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Copilot helps with the engineering surrounding data science, not with replacing statistical judgment or model-risk governance. Examples in this deck use synthetic data only.</a:t>
            </a:r>
          </a:p>
          <a:p>
            <a:r>
              <a:t>Visual design: Desjardins-inspired green #00874E, deep green #003D2B, and white. This is not an official Desjardins template; brand approval and exact brand standards were not verified. No corporate logo is reproduced.</a:t>
            </a:r>
          </a:p>
          <a:p>
            <a:r>
              <a:t>Audience: data scientists working in VS Code, Python scripts and notebooks.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Completion is an editor surface, not a chat mode. Ask describes the question-and-answer interaction; exact mode names and available controls vary by VS Code version and harness. Agentic work can use tools, change multiple files, and execute commands subject to permissions. Explain that notebook context and important files should be attached explicitly.</a:t>
            </a:r>
          </a:p>
          <a:p>
            <a:r>
              <a:t>Sources:</a:t>
            </a:r>
          </a:p>
          <a:p>
            <a:r>
              <a:t>https://code.visualstudio.com/docs/editing/ai-powered-suggestions</a:t>
            </a:r>
          </a:p>
          <a:p>
            <a:r>
              <a:t>https://code.visualstudio.com/docs/chat/chat-overview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HVE means Hypervelocity Engineering. HVE Core is an optional framework installed/configured for Copilot, not a default VS Code feature. Select its RPI Agent for lifecycle coordination, or invoke the phase skills when available in the installed HVE version.</a:t>
            </a:r>
          </a:p>
          <a:p>
            <a:r>
              <a:t>Current upstream documentation distinguishes Research, Plan, Implement, Review, and Follow-up. Research is read-only and activated only for evidence gaps; reuse adequate supplied evidence. Plan critique normally runs unless skipped. Review can compare acceptance criteria with implementation evidence; follow-up routes defects, decisions, and evidence gaps appropriately. This deck recommends review for the banking example; it does not claim every HVE phase is mandatory.</a:t>
            </a:r>
          </a:p>
          <a:p>
            <a:r>
              <a:t>Durable research, plans, changes and review records live under .copilot-tracking.</a:t>
            </a:r>
          </a:p>
          <a:p>
            <a:r>
              <a:t>Source (accessed 2026-10-20): https://github.com/microsoft/hve-core/blob/main/docs/rpi/README.md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 is documented by GitHub as selecting among supported models subject to subscription, availability, and administrator policy. Current documentation describes task optimization and Efficiency, Balance, and Intelligence preferences where supported.</a:t>
            </a:r>
          </a:p>
          <a:p>
            <a:r>
              <a:t>Hydrafusion is included because it is an option named by the presenter. Its availability and behavior have not been verified in public Copilot documentation; do not imply it is a universally available model, a synonym for Auto, or guaranteed to have the same routing behavior. Use it only if the actual approved environment exposes it.</a:t>
            </a:r>
          </a:p>
          <a:p>
            <a:r>
              <a:t>Large/medium/small refer to relative model capability for this workshop, not literal parameter counts, model product names, or low/medium/high reasoning-effort controls. The manual mapping is a recommendation requested for this briefing, not an HVE requirement.</a:t>
            </a:r>
          </a:p>
          <a:p>
            <a:r>
              <a:t>Rubber ducking means asking the assistant to challenge your reasoning, assumptions and edge cases. A second pass helps but is not proof of correctness or an independent risk approval.</a:t>
            </a:r>
          </a:p>
          <a:p>
            <a:r>
              <a:t>Sources:</a:t>
            </a:r>
          </a:p>
          <a:p>
            <a:r>
              <a:t>https://docs.github.com/en/copilot/concepts/models/auto-model-selection</a:t>
            </a:r>
          </a:p>
          <a:p>
            <a:r>
              <a:t>https://docs.github.com/en/copilot/reference/ai-models/supported-models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Suggested five-minute demo, not a claim that a production credit model can be delivered or approved in five minutes. Use synthetic records with an observation timestamp and a default outcome defined over a future prediction window. Enforce customer isolation or temporal gaps if the data structure and label horizon require them.</a:t>
            </a:r>
          </a:p>
          <a:p>
            <a:r>
              <a:t>For imbalanced outcomes, PR-AUC is one useful metric, not a complete decision criterion. Include a baseline comparison, calibration, uncertainty and subgroup analysis where meaningful; subgroup results do not establish fairness or compliance. Reserve the final holdout for the final evaluation. Agree task-specific thresholds before implementing; do not invent business acceptance thresholds for the customer.</a:t>
            </a:r>
          </a:p>
          <a:p>
            <a:r>
              <a:t>Clean rerun means documented dependencies and seeds and a notebook or script that runs from a fresh kernel/environment. Check preprocessing is fit only on training records and report actual test results, not assumed results.</a:t>
            </a:r>
          </a:p>
          <a:p>
            <a:r>
              <a:t>Customer policy governs permissible data, model providers, tool permissions and retention. De-identification requires approval and does not itself guarantee privacy. Do not expose client PII, credentials, or confidential datasets. This demonstration is not lending advice, a production deployment or a model-risk approval.</a:t>
            </a:r>
          </a:p>
          <a:p>
            <a:r>
              <a:t>Workflow source: https://github.com/microsoft/hve-core/blob/main/docs/rpi/README.md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code.visualstudio.com/docs/editing/ai-powered-suggestions" TargetMode="Externa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icrosoft/hve-core/blob/main/docs/rpi/README.md" TargetMode="Externa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cs.github.com/en/copilot/concepts/models/auto-model-selection" TargetMode="Externa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github.com/microsoft/hve-core/blob/main/docs/rpi/README.md" TargetMode="External"/><Relationship Id="rId3" Type="http://schemas.openxmlformats.org/officeDocument/2006/relationships/notesSlide" Target="../notesSlides/notesSlide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03D2B"/>
        </a:solidFill>
        <a:effectLst/>
      </p:bgPr>
    </p:bg>
    <p:spTree>
      <p:nvGrpSpPr>
        <p:cNvPr id="1" name=""/>
        <p:cNvGrpSpPr/>
        <p:nvPr/>
      </p:nvGrpSpPr>
      <p:grpSpPr/>
      <p:sp>
        <p:nvSpPr>
          <p:cNvPr id="2" name="Rectangle 1"/>
          <p:cNvSpPr/>
          <p:nvPr/>
        </p:nvSpPr>
        <p:spPr>
          <a:xfrm>
            <a:off x="0" y="0"/>
            <a:ext cx="128016" cy="6858000"/>
          </a:xfrm>
          <a:prstGeom prst="rect">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12648" y="475488"/>
            <a:ext cx="10058400" cy="256032"/>
          </a:xfrm>
          <a:prstGeom prst="rect">
            <a:avLst/>
          </a:prstGeom>
          <a:noFill/>
        </p:spPr>
        <p:txBody>
          <a:bodyPr wrap="square" lIns="0" rIns="0" tIns="0" bIns="0">
            <a:spAutoFit/>
          </a:bodyPr>
          <a:lstStyle/>
          <a:p>
            <a:pPr>
              <a:spcAft>
                <a:spcPts val="600"/>
              </a:spcAft>
              <a:defRPr sz="1100" b="1">
                <a:solidFill>
                  <a:srgbClr val="C1E88A"/>
                </a:solidFill>
                <a:latin typeface="Aptos"/>
              </a:defRPr>
            </a:pPr>
            <a:r>
              <a:t>DATA SCIENCE  /  VS CODE</a:t>
            </a:r>
          </a:p>
        </p:txBody>
      </p:sp>
      <p:sp>
        <p:nvSpPr>
          <p:cNvPr id="4" name="TextBox 3"/>
          <p:cNvSpPr txBox="1"/>
          <p:nvPr/>
        </p:nvSpPr>
        <p:spPr>
          <a:xfrm>
            <a:off x="612648" y="1133856"/>
            <a:ext cx="6720840" cy="1508760"/>
          </a:xfrm>
          <a:prstGeom prst="rect">
            <a:avLst/>
          </a:prstGeom>
          <a:noFill/>
        </p:spPr>
        <p:txBody>
          <a:bodyPr wrap="square" lIns="0" rIns="0" tIns="0" bIns="0">
            <a:spAutoFit/>
          </a:bodyPr>
          <a:lstStyle/>
          <a:p>
            <a:pPr>
              <a:spcAft>
                <a:spcPts val="600"/>
              </a:spcAft>
              <a:defRPr sz="4200" b="1">
                <a:solidFill>
                  <a:srgbClr val="FFFFFF"/>
                </a:solidFill>
                <a:latin typeface="Aptos"/>
              </a:defRPr>
            </a:pPr>
            <a:r>
              <a:t>GitHub Copilot</a:t>
            </a:r>
          </a:p>
          <a:p>
            <a:pPr>
              <a:spcAft>
                <a:spcPts val="600"/>
              </a:spcAft>
              <a:defRPr sz="4200" b="1">
                <a:solidFill>
                  <a:srgbClr val="FFFFFF"/>
                </a:solidFill>
                <a:latin typeface="Aptos"/>
              </a:defRPr>
            </a:pPr>
            <a:r>
              <a:t>for data scientists</a:t>
            </a:r>
          </a:p>
        </p:txBody>
      </p:sp>
      <p:sp>
        <p:nvSpPr>
          <p:cNvPr id="5" name="TextBox 4"/>
          <p:cNvSpPr txBox="1"/>
          <p:nvPr/>
        </p:nvSpPr>
        <p:spPr>
          <a:xfrm>
            <a:off x="640080" y="2880360"/>
            <a:ext cx="6263640" cy="822960"/>
          </a:xfrm>
          <a:prstGeom prst="rect">
            <a:avLst/>
          </a:prstGeom>
          <a:noFill/>
        </p:spPr>
        <p:txBody>
          <a:bodyPr wrap="square" lIns="0" rIns="0" tIns="0" bIns="0">
            <a:spAutoFit/>
          </a:bodyPr>
          <a:lstStyle/>
          <a:p>
            <a:pPr>
              <a:spcAft>
                <a:spcPts val="600"/>
              </a:spcAft>
              <a:defRPr sz="2500" b="0">
                <a:solidFill>
                  <a:srgbClr val="D6EBDD"/>
                </a:solidFill>
                <a:latin typeface="Aptos"/>
              </a:defRPr>
            </a:pPr>
            <a:r>
              <a:t>Less boilerplate.</a:t>
            </a:r>
          </a:p>
          <a:p>
            <a:pPr>
              <a:spcAft>
                <a:spcPts val="600"/>
              </a:spcAft>
              <a:defRPr sz="2500" b="0">
                <a:solidFill>
                  <a:srgbClr val="D6EBDD"/>
                </a:solidFill>
                <a:latin typeface="Aptos"/>
              </a:defRPr>
            </a:pPr>
            <a:r>
              <a:t>More time for scientific judgment.</a:t>
            </a:r>
          </a:p>
        </p:txBody>
      </p:sp>
      <p:sp>
        <p:nvSpPr>
          <p:cNvPr id="6" name="Rectangle 5"/>
          <p:cNvSpPr/>
          <p:nvPr/>
        </p:nvSpPr>
        <p:spPr>
          <a:xfrm>
            <a:off x="640080" y="4178808"/>
            <a:ext cx="6172200" cy="22860"/>
          </a:xfrm>
          <a:prstGeom prst="rect">
            <a:avLst/>
          </a:prstGeom>
          <a:solidFill>
            <a:srgbClr val="3261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4480560"/>
            <a:ext cx="6126480" cy="804672"/>
          </a:xfrm>
          <a:prstGeom prst="rect">
            <a:avLst/>
          </a:prstGeom>
          <a:noFill/>
        </p:spPr>
        <p:txBody>
          <a:bodyPr wrap="square" lIns="0" rIns="0" tIns="0" bIns="0">
            <a:spAutoFit/>
          </a:bodyPr>
          <a:lstStyle/>
          <a:p>
            <a:pPr>
              <a:spcAft>
                <a:spcPts val="600"/>
              </a:spcAft>
              <a:defRPr sz="2000" b="0">
                <a:solidFill>
                  <a:srgbClr val="FFFFFF"/>
                </a:solidFill>
                <a:latin typeface="Aptos"/>
              </a:defRPr>
            </a:pPr>
            <a:r>
              <a:t>Complete code. Ask better questions.</a:t>
            </a:r>
          </a:p>
          <a:p>
            <a:pPr>
              <a:spcAft>
                <a:spcPts val="600"/>
              </a:spcAft>
              <a:defRPr sz="2000" b="0">
                <a:solidFill>
                  <a:srgbClr val="FFFFFF"/>
                </a:solidFill>
                <a:latin typeface="Aptos"/>
              </a:defRPr>
            </a:pPr>
            <a:r>
              <a:t>Delegate bounded work, then verify.</a:t>
            </a:r>
          </a:p>
        </p:txBody>
      </p:sp>
      <p:sp>
        <p:nvSpPr>
          <p:cNvPr id="8" name="TextBox 7"/>
          <p:cNvSpPr txBox="1"/>
          <p:nvPr/>
        </p:nvSpPr>
        <p:spPr>
          <a:xfrm>
            <a:off x="640080" y="5742432"/>
            <a:ext cx="6126480" cy="320040"/>
          </a:xfrm>
          <a:prstGeom prst="rect">
            <a:avLst/>
          </a:prstGeom>
          <a:noFill/>
        </p:spPr>
        <p:txBody>
          <a:bodyPr wrap="square" lIns="0" rIns="0" tIns="0" bIns="0">
            <a:spAutoFit/>
          </a:bodyPr>
          <a:lstStyle/>
          <a:p>
            <a:pPr>
              <a:spcAft>
                <a:spcPts val="600"/>
              </a:spcAft>
              <a:defRPr sz="1400" b="0">
                <a:solidFill>
                  <a:srgbClr val="C1E88A"/>
                </a:solidFill>
                <a:latin typeface="Aptos"/>
              </a:defRPr>
            </a:pPr>
            <a:r>
              <a:t>A practical briefing for Desjardins teams</a:t>
            </a:r>
          </a:p>
        </p:txBody>
      </p:sp>
      <p:sp>
        <p:nvSpPr>
          <p:cNvPr id="9" name="Rounded Rectangle 8"/>
          <p:cNvSpPr/>
          <p:nvPr/>
        </p:nvSpPr>
        <p:spPr>
          <a:xfrm>
            <a:off x="7434072" y="1060704"/>
            <a:ext cx="4142232" cy="5010912"/>
          </a:xfrm>
          <a:prstGeom prst="roundRect">
            <a:avLst>
              <a:gd name="adj" fmla="val 12000"/>
            </a:avLst>
          </a:prstGeom>
          <a:solidFill>
            <a:srgbClr val="0C4D3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54112" y="1417320"/>
            <a:ext cx="3383280" cy="256032"/>
          </a:xfrm>
          <a:prstGeom prst="rect">
            <a:avLst/>
          </a:prstGeom>
          <a:noFill/>
        </p:spPr>
        <p:txBody>
          <a:bodyPr wrap="square" lIns="0" rIns="0" tIns="0" bIns="0">
            <a:spAutoFit/>
          </a:bodyPr>
          <a:lstStyle/>
          <a:p>
            <a:pPr>
              <a:spcAft>
                <a:spcPts val="600"/>
              </a:spcAft>
              <a:defRPr sz="1100" b="1">
                <a:solidFill>
                  <a:srgbClr val="C1E88A"/>
                </a:solidFill>
                <a:latin typeface="Aptos"/>
              </a:defRPr>
            </a:pPr>
            <a:r>
              <a:t>ONE WORKSPACE</a:t>
            </a:r>
          </a:p>
        </p:txBody>
      </p:sp>
      <p:sp>
        <p:nvSpPr>
          <p:cNvPr id="11" name="Rounded Rectangle 10"/>
          <p:cNvSpPr/>
          <p:nvPr/>
        </p:nvSpPr>
        <p:spPr>
          <a:xfrm>
            <a:off x="7754112" y="2011680"/>
            <a:ext cx="475488" cy="475488"/>
          </a:xfrm>
          <a:prstGeom prst="roundRect">
            <a:avLst>
              <a:gd name="adj" fmla="val 12000"/>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27264" y="2103120"/>
            <a:ext cx="365760" cy="256032"/>
          </a:xfrm>
          <a:prstGeom prst="rect">
            <a:avLst/>
          </a:prstGeom>
          <a:noFill/>
        </p:spPr>
        <p:txBody>
          <a:bodyPr wrap="square" lIns="0" rIns="0" tIns="0" bIns="0">
            <a:spAutoFit/>
          </a:bodyPr>
          <a:lstStyle/>
          <a:p>
            <a:pPr>
              <a:spcAft>
                <a:spcPts val="600"/>
              </a:spcAft>
              <a:defRPr sz="1400" b="1">
                <a:solidFill>
                  <a:srgbClr val="FFFFFF"/>
                </a:solidFill>
                <a:latin typeface="Aptos"/>
              </a:defRPr>
            </a:pPr>
            <a:r>
              <a:t>01</a:t>
            </a:r>
          </a:p>
        </p:txBody>
      </p:sp>
      <p:sp>
        <p:nvSpPr>
          <p:cNvPr id="13" name="TextBox 12"/>
          <p:cNvSpPr txBox="1"/>
          <p:nvPr/>
        </p:nvSpPr>
        <p:spPr>
          <a:xfrm>
            <a:off x="8403336" y="2002536"/>
            <a:ext cx="2788920" cy="347472"/>
          </a:xfrm>
          <a:prstGeom prst="rect">
            <a:avLst/>
          </a:prstGeom>
          <a:noFill/>
        </p:spPr>
        <p:txBody>
          <a:bodyPr wrap="square" lIns="0" rIns="0" tIns="0" bIns="0">
            <a:spAutoFit/>
          </a:bodyPr>
          <a:lstStyle/>
          <a:p>
            <a:pPr>
              <a:spcAft>
                <a:spcPts val="600"/>
              </a:spcAft>
              <a:defRPr sz="2300" b="1">
                <a:solidFill>
                  <a:srgbClr val="FFFFFF"/>
                </a:solidFill>
                <a:latin typeface="Aptos"/>
              </a:defRPr>
            </a:pPr>
            <a:r>
              <a:t>Explore</a:t>
            </a:r>
          </a:p>
        </p:txBody>
      </p:sp>
      <p:sp>
        <p:nvSpPr>
          <p:cNvPr id="14" name="TextBox 13"/>
          <p:cNvSpPr txBox="1"/>
          <p:nvPr/>
        </p:nvSpPr>
        <p:spPr>
          <a:xfrm>
            <a:off x="8403336" y="2414016"/>
            <a:ext cx="2743200" cy="566928"/>
          </a:xfrm>
          <a:prstGeom prst="rect">
            <a:avLst/>
          </a:prstGeom>
          <a:noFill/>
        </p:spPr>
        <p:txBody>
          <a:bodyPr wrap="square" lIns="0" rIns="0" tIns="0" bIns="0">
            <a:spAutoFit/>
          </a:bodyPr>
          <a:lstStyle/>
          <a:p>
            <a:pPr>
              <a:spcAft>
                <a:spcPts val="600"/>
              </a:spcAft>
              <a:defRPr sz="1400" b="0">
                <a:solidFill>
                  <a:srgbClr val="D6EBDD"/>
                </a:solidFill>
                <a:latin typeface="Aptos"/>
              </a:defRPr>
            </a:pPr>
            <a:r>
              <a:t>Understand data and assumptions</a:t>
            </a:r>
          </a:p>
        </p:txBody>
      </p:sp>
      <p:sp>
        <p:nvSpPr>
          <p:cNvPr id="15" name="Rounded Rectangle 14"/>
          <p:cNvSpPr/>
          <p:nvPr/>
        </p:nvSpPr>
        <p:spPr>
          <a:xfrm>
            <a:off x="7754112" y="3182112"/>
            <a:ext cx="475488" cy="475488"/>
          </a:xfrm>
          <a:prstGeom prst="roundRect">
            <a:avLst>
              <a:gd name="adj" fmla="val 12000"/>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827264" y="3273552"/>
            <a:ext cx="365760" cy="256032"/>
          </a:xfrm>
          <a:prstGeom prst="rect">
            <a:avLst/>
          </a:prstGeom>
          <a:noFill/>
        </p:spPr>
        <p:txBody>
          <a:bodyPr wrap="square" lIns="0" rIns="0" tIns="0" bIns="0">
            <a:spAutoFit/>
          </a:bodyPr>
          <a:lstStyle/>
          <a:p>
            <a:pPr>
              <a:spcAft>
                <a:spcPts val="600"/>
              </a:spcAft>
              <a:defRPr sz="1400" b="1">
                <a:solidFill>
                  <a:srgbClr val="FFFFFF"/>
                </a:solidFill>
                <a:latin typeface="Aptos"/>
              </a:defRPr>
            </a:pPr>
            <a:r>
              <a:t>02</a:t>
            </a:r>
          </a:p>
        </p:txBody>
      </p:sp>
      <p:sp>
        <p:nvSpPr>
          <p:cNvPr id="17" name="TextBox 16"/>
          <p:cNvSpPr txBox="1"/>
          <p:nvPr/>
        </p:nvSpPr>
        <p:spPr>
          <a:xfrm>
            <a:off x="8403336" y="3172968"/>
            <a:ext cx="2788920" cy="347472"/>
          </a:xfrm>
          <a:prstGeom prst="rect">
            <a:avLst/>
          </a:prstGeom>
          <a:noFill/>
        </p:spPr>
        <p:txBody>
          <a:bodyPr wrap="square" lIns="0" rIns="0" tIns="0" bIns="0">
            <a:spAutoFit/>
          </a:bodyPr>
          <a:lstStyle/>
          <a:p>
            <a:pPr>
              <a:spcAft>
                <a:spcPts val="600"/>
              </a:spcAft>
              <a:defRPr sz="2300" b="1">
                <a:solidFill>
                  <a:srgbClr val="FFFFFF"/>
                </a:solidFill>
                <a:latin typeface="Aptos"/>
              </a:defRPr>
            </a:pPr>
            <a:r>
              <a:t>Experiment</a:t>
            </a:r>
          </a:p>
        </p:txBody>
      </p:sp>
      <p:sp>
        <p:nvSpPr>
          <p:cNvPr id="18" name="TextBox 17"/>
          <p:cNvSpPr txBox="1"/>
          <p:nvPr/>
        </p:nvSpPr>
        <p:spPr>
          <a:xfrm>
            <a:off x="8403336" y="3584448"/>
            <a:ext cx="2743200" cy="566928"/>
          </a:xfrm>
          <a:prstGeom prst="rect">
            <a:avLst/>
          </a:prstGeom>
          <a:noFill/>
        </p:spPr>
        <p:txBody>
          <a:bodyPr wrap="square" lIns="0" rIns="0" tIns="0" bIns="0">
            <a:spAutoFit/>
          </a:bodyPr>
          <a:lstStyle/>
          <a:p>
            <a:pPr>
              <a:spcAft>
                <a:spcPts val="600"/>
              </a:spcAft>
              <a:defRPr sz="1400" b="0">
                <a:solidFill>
                  <a:srgbClr val="D6EBDD"/>
                </a:solidFill>
                <a:latin typeface="Aptos"/>
              </a:defRPr>
            </a:pPr>
            <a:r>
              <a:t>Build and compare reproducible baselines</a:t>
            </a:r>
          </a:p>
        </p:txBody>
      </p:sp>
      <p:sp>
        <p:nvSpPr>
          <p:cNvPr id="19" name="Rounded Rectangle 18"/>
          <p:cNvSpPr/>
          <p:nvPr/>
        </p:nvSpPr>
        <p:spPr>
          <a:xfrm>
            <a:off x="7754112" y="4352544"/>
            <a:ext cx="475488" cy="475488"/>
          </a:xfrm>
          <a:prstGeom prst="roundRect">
            <a:avLst>
              <a:gd name="adj" fmla="val 12000"/>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27264" y="4443983"/>
            <a:ext cx="365760" cy="256032"/>
          </a:xfrm>
          <a:prstGeom prst="rect">
            <a:avLst/>
          </a:prstGeom>
          <a:noFill/>
        </p:spPr>
        <p:txBody>
          <a:bodyPr wrap="square" lIns="0" rIns="0" tIns="0" bIns="0">
            <a:spAutoFit/>
          </a:bodyPr>
          <a:lstStyle/>
          <a:p>
            <a:pPr>
              <a:spcAft>
                <a:spcPts val="600"/>
              </a:spcAft>
              <a:defRPr sz="1400" b="1">
                <a:solidFill>
                  <a:srgbClr val="FFFFFF"/>
                </a:solidFill>
                <a:latin typeface="Aptos"/>
              </a:defRPr>
            </a:pPr>
            <a:r>
              <a:t>03</a:t>
            </a:r>
          </a:p>
        </p:txBody>
      </p:sp>
      <p:sp>
        <p:nvSpPr>
          <p:cNvPr id="21" name="TextBox 20"/>
          <p:cNvSpPr txBox="1"/>
          <p:nvPr/>
        </p:nvSpPr>
        <p:spPr>
          <a:xfrm>
            <a:off x="8403336" y="4343400"/>
            <a:ext cx="2788920" cy="347472"/>
          </a:xfrm>
          <a:prstGeom prst="rect">
            <a:avLst/>
          </a:prstGeom>
          <a:noFill/>
        </p:spPr>
        <p:txBody>
          <a:bodyPr wrap="square" lIns="0" rIns="0" tIns="0" bIns="0">
            <a:spAutoFit/>
          </a:bodyPr>
          <a:lstStyle/>
          <a:p>
            <a:pPr>
              <a:spcAft>
                <a:spcPts val="600"/>
              </a:spcAft>
              <a:defRPr sz="2300" b="1">
                <a:solidFill>
                  <a:srgbClr val="FFFFFF"/>
                </a:solidFill>
                <a:latin typeface="Aptos"/>
              </a:defRPr>
            </a:pPr>
            <a:r>
              <a:t>Validate</a:t>
            </a:r>
          </a:p>
        </p:txBody>
      </p:sp>
      <p:sp>
        <p:nvSpPr>
          <p:cNvPr id="22" name="TextBox 21"/>
          <p:cNvSpPr txBox="1"/>
          <p:nvPr/>
        </p:nvSpPr>
        <p:spPr>
          <a:xfrm>
            <a:off x="8403336" y="4754880"/>
            <a:ext cx="2743200" cy="566928"/>
          </a:xfrm>
          <a:prstGeom prst="rect">
            <a:avLst/>
          </a:prstGeom>
          <a:noFill/>
        </p:spPr>
        <p:txBody>
          <a:bodyPr wrap="square" lIns="0" rIns="0" tIns="0" bIns="0">
            <a:spAutoFit/>
          </a:bodyPr>
          <a:lstStyle/>
          <a:p>
            <a:pPr>
              <a:spcAft>
                <a:spcPts val="600"/>
              </a:spcAft>
              <a:defRPr sz="1400" b="0">
                <a:solidFill>
                  <a:srgbClr val="D6EBDD"/>
                </a:solidFill>
                <a:latin typeface="Aptos"/>
              </a:defRPr>
            </a:pPr>
            <a:r>
              <a:t>Test code, metrics and leakage risks</a:t>
            </a:r>
          </a:p>
        </p:txBody>
      </p:sp>
      <p:sp>
        <p:nvSpPr>
          <p:cNvPr id="23" name="TextBox 22"/>
          <p:cNvSpPr txBox="1"/>
          <p:nvPr/>
        </p:nvSpPr>
        <p:spPr>
          <a:xfrm>
            <a:off x="530352" y="6492240"/>
            <a:ext cx="8961120" cy="173736"/>
          </a:xfrm>
          <a:prstGeom prst="rect">
            <a:avLst/>
          </a:prstGeom>
          <a:noFill/>
        </p:spPr>
        <p:txBody>
          <a:bodyPr wrap="square" lIns="0" rIns="0" tIns="0" bIns="0">
            <a:spAutoFit/>
          </a:bodyPr>
          <a:lstStyle/>
          <a:p>
            <a:pPr>
              <a:spcAft>
                <a:spcPts val="600"/>
              </a:spcAft>
              <a:defRPr sz="800" b="0">
                <a:solidFill>
                  <a:srgbClr val="B7D2C3"/>
                </a:solidFill>
                <a:latin typeface="Aptos"/>
              </a:defRPr>
            </a:pPr>
            <a:r>
              <a:t>DESJARDINS-INSPIRED  /  GITHUB COPILOT FOR DATA SCIENCE</a:t>
            </a:r>
          </a:p>
        </p:txBody>
      </p:sp>
      <p:sp>
        <p:nvSpPr>
          <p:cNvPr id="24" name="TextBox 23"/>
          <p:cNvSpPr txBox="1"/>
          <p:nvPr/>
        </p:nvSpPr>
        <p:spPr>
          <a:xfrm>
            <a:off x="11082528" y="6455664"/>
            <a:ext cx="502920" cy="237744"/>
          </a:xfrm>
          <a:prstGeom prst="rect">
            <a:avLst/>
          </a:prstGeom>
          <a:noFill/>
        </p:spPr>
        <p:txBody>
          <a:bodyPr wrap="square" lIns="0" rIns="0" tIns="0" bIns="0">
            <a:spAutoFit/>
          </a:bodyPr>
          <a:lstStyle/>
          <a:p>
            <a:pPr>
              <a:spcAft>
                <a:spcPts val="600"/>
              </a:spcAft>
              <a:defRPr sz="900" b="1">
                <a:solidFill>
                  <a:srgbClr val="B7D2C3"/>
                </a:solidFill>
                <a:latin typeface="Aptos"/>
              </a:defRPr>
            </a:pPr>
            <a:r>
              <a:t>01 / 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AF7"/>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93192"/>
            <a:ext cx="10058400"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GITHUB COPILOT  /  VS CODE</a:t>
            </a:r>
          </a:p>
        </p:txBody>
      </p:sp>
      <p:sp>
        <p:nvSpPr>
          <p:cNvPr id="4" name="TextBox 3"/>
          <p:cNvSpPr txBox="1"/>
          <p:nvPr/>
        </p:nvSpPr>
        <p:spPr>
          <a:xfrm>
            <a:off x="530352" y="850392"/>
            <a:ext cx="11109960" cy="594360"/>
          </a:xfrm>
          <a:prstGeom prst="rect">
            <a:avLst/>
          </a:prstGeom>
          <a:noFill/>
        </p:spPr>
        <p:txBody>
          <a:bodyPr wrap="square" lIns="0" rIns="0" tIns="0" bIns="0">
            <a:spAutoFit/>
          </a:bodyPr>
          <a:lstStyle/>
          <a:p>
            <a:pPr>
              <a:spcAft>
                <a:spcPts val="600"/>
              </a:spcAft>
              <a:defRPr sz="3100" b="1">
                <a:solidFill>
                  <a:srgbClr val="153A2D"/>
                </a:solidFill>
                <a:latin typeface="Aptos"/>
              </a:defRPr>
            </a:pPr>
            <a:r>
              <a:t>Three ways to work with Copilot</a:t>
            </a:r>
          </a:p>
        </p:txBody>
      </p:sp>
      <p:sp>
        <p:nvSpPr>
          <p:cNvPr id="5" name="TextBox 4"/>
          <p:cNvSpPr txBox="1"/>
          <p:nvPr/>
        </p:nvSpPr>
        <p:spPr>
          <a:xfrm>
            <a:off x="548640" y="1508760"/>
            <a:ext cx="11018520" cy="548640"/>
          </a:xfrm>
          <a:prstGeom prst="rect">
            <a:avLst/>
          </a:prstGeom>
          <a:noFill/>
        </p:spPr>
        <p:txBody>
          <a:bodyPr wrap="square" lIns="0" rIns="0" tIns="0" bIns="0">
            <a:spAutoFit/>
          </a:bodyPr>
          <a:lstStyle/>
          <a:p>
            <a:pPr>
              <a:spcAft>
                <a:spcPts val="600"/>
              </a:spcAft>
              <a:defRPr sz="1700" b="0">
                <a:solidFill>
                  <a:srgbClr val="526B60"/>
                </a:solidFill>
                <a:latin typeface="Aptos"/>
              </a:defRPr>
            </a:pPr>
            <a:r>
              <a:t>Choose the interaction by how much work you want to delegate.</a:t>
            </a:r>
          </a:p>
        </p:txBody>
      </p:sp>
      <p:sp>
        <p:nvSpPr>
          <p:cNvPr id="6" name="TextBox 5"/>
          <p:cNvSpPr txBox="1"/>
          <p:nvPr/>
        </p:nvSpPr>
        <p:spPr>
          <a:xfrm>
            <a:off x="530352" y="6492240"/>
            <a:ext cx="8961120" cy="173736"/>
          </a:xfrm>
          <a:prstGeom prst="rect">
            <a:avLst/>
          </a:prstGeom>
          <a:noFill/>
        </p:spPr>
        <p:txBody>
          <a:bodyPr wrap="square" lIns="0" rIns="0" tIns="0" bIns="0">
            <a:spAutoFit/>
          </a:bodyPr>
          <a:lstStyle/>
          <a:p>
            <a:pPr>
              <a:spcAft>
                <a:spcPts val="600"/>
              </a:spcAft>
              <a:defRPr sz="800" b="0">
                <a:solidFill>
                  <a:srgbClr val="526B60"/>
                </a:solidFill>
                <a:latin typeface="Aptos"/>
              </a:defRPr>
            </a:pPr>
            <a:r>
              <a:t>DESJARDINS-INSPIRED  /  GITHUB COPILOT FOR DATA SCIENCE</a:t>
            </a:r>
          </a:p>
        </p:txBody>
      </p:sp>
      <p:sp>
        <p:nvSpPr>
          <p:cNvPr id="7" name="TextBox 6"/>
          <p:cNvSpPr txBox="1"/>
          <p:nvPr/>
        </p:nvSpPr>
        <p:spPr>
          <a:xfrm>
            <a:off x="9646920" y="6473952"/>
            <a:ext cx="1325880" cy="210312"/>
          </a:xfrm>
          <a:prstGeom prst="rect">
            <a:avLst/>
          </a:prstGeom>
          <a:noFill/>
        </p:spPr>
        <p:txBody>
          <a:bodyPr wrap="square" lIns="0" rIns="0" tIns="0" bIns="0">
            <a:spAutoFit/>
          </a:bodyPr>
          <a:lstStyle/>
          <a:p>
            <a:pPr>
              <a:spcAft>
                <a:spcPts val="600"/>
              </a:spcAft>
              <a:defRPr sz="900" b="0">
                <a:solidFill>
                  <a:srgbClr val="526B60"/>
                </a:solidFill>
                <a:latin typeface="Aptos"/>
              </a:defRPr>
            </a:pPr>
            <a:r>
              <a:rPr>
                <a:hlinkClick r:id="rId2"/>
              </a:rPr>
              <a:t>Source / reference</a:t>
            </a:r>
          </a:p>
        </p:txBody>
      </p:sp>
      <p:sp>
        <p:nvSpPr>
          <p:cNvPr id="8" name="TextBox 7"/>
          <p:cNvSpPr txBox="1"/>
          <p:nvPr/>
        </p:nvSpPr>
        <p:spPr>
          <a:xfrm>
            <a:off x="11082528" y="6455664"/>
            <a:ext cx="502920" cy="237744"/>
          </a:xfrm>
          <a:prstGeom prst="rect">
            <a:avLst/>
          </a:prstGeom>
          <a:noFill/>
        </p:spPr>
        <p:txBody>
          <a:bodyPr wrap="square" lIns="0" rIns="0" tIns="0" bIns="0">
            <a:spAutoFit/>
          </a:bodyPr>
          <a:lstStyle/>
          <a:p>
            <a:pPr>
              <a:spcAft>
                <a:spcPts val="600"/>
              </a:spcAft>
              <a:defRPr sz="900" b="1">
                <a:solidFill>
                  <a:srgbClr val="526B60"/>
                </a:solidFill>
                <a:latin typeface="Aptos"/>
              </a:defRPr>
            </a:pPr>
            <a:r>
              <a:t>02 / 05</a:t>
            </a:r>
          </a:p>
        </p:txBody>
      </p:sp>
      <p:sp>
        <p:nvSpPr>
          <p:cNvPr id="9" name="Rounded Rectangle 8"/>
          <p:cNvSpPr/>
          <p:nvPr/>
        </p:nvSpPr>
        <p:spPr>
          <a:xfrm>
            <a:off x="548640" y="2322576"/>
            <a:ext cx="3474720" cy="3566160"/>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 y="2578608"/>
            <a:ext cx="3035808"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01 / COMPLETION</a:t>
            </a:r>
          </a:p>
        </p:txBody>
      </p:sp>
      <p:sp>
        <p:nvSpPr>
          <p:cNvPr id="11" name="TextBox 10"/>
          <p:cNvSpPr txBox="1"/>
          <p:nvPr/>
        </p:nvSpPr>
        <p:spPr>
          <a:xfrm>
            <a:off x="758952" y="2971800"/>
            <a:ext cx="3035808" cy="438912"/>
          </a:xfrm>
          <a:prstGeom prst="rect">
            <a:avLst/>
          </a:prstGeom>
          <a:noFill/>
        </p:spPr>
        <p:txBody>
          <a:bodyPr wrap="square" lIns="0" rIns="0" tIns="0" bIns="0">
            <a:spAutoFit/>
          </a:bodyPr>
          <a:lstStyle/>
          <a:p>
            <a:pPr>
              <a:spcAft>
                <a:spcPts val="600"/>
              </a:spcAft>
              <a:defRPr sz="2700" b="1">
                <a:solidFill>
                  <a:srgbClr val="153A2D"/>
                </a:solidFill>
                <a:latin typeface="Aptos"/>
              </a:defRPr>
            </a:pPr>
            <a:r>
              <a:t>Keep typing</a:t>
            </a:r>
          </a:p>
        </p:txBody>
      </p:sp>
      <p:sp>
        <p:nvSpPr>
          <p:cNvPr id="12" name="TextBox 11"/>
          <p:cNvSpPr txBox="1"/>
          <p:nvPr/>
        </p:nvSpPr>
        <p:spPr>
          <a:xfrm>
            <a:off x="758952" y="3511296"/>
            <a:ext cx="3035808" cy="256032"/>
          </a:xfrm>
          <a:prstGeom prst="rect">
            <a:avLst/>
          </a:prstGeom>
          <a:noFill/>
        </p:spPr>
        <p:txBody>
          <a:bodyPr wrap="square" lIns="0" rIns="0" tIns="0" bIns="0">
            <a:spAutoFit/>
          </a:bodyPr>
          <a:lstStyle/>
          <a:p>
            <a:pPr>
              <a:spcAft>
                <a:spcPts val="600"/>
              </a:spcAft>
              <a:defRPr sz="1300" b="1">
                <a:solidFill>
                  <a:srgbClr val="00874E"/>
                </a:solidFill>
                <a:latin typeface="Aptos"/>
              </a:defRPr>
            </a:pPr>
            <a:r>
              <a:t>Inline suggestions</a:t>
            </a:r>
          </a:p>
        </p:txBody>
      </p:sp>
      <p:sp>
        <p:nvSpPr>
          <p:cNvPr id="13" name="TextBox 12"/>
          <p:cNvSpPr txBox="1"/>
          <p:nvPr/>
        </p:nvSpPr>
        <p:spPr>
          <a:xfrm>
            <a:off x="758952" y="3904487"/>
            <a:ext cx="3035808" cy="740664"/>
          </a:xfrm>
          <a:prstGeom prst="rect">
            <a:avLst/>
          </a:prstGeom>
          <a:noFill/>
        </p:spPr>
        <p:txBody>
          <a:bodyPr wrap="square" lIns="0" rIns="0" tIns="0" bIns="0">
            <a:spAutoFit/>
          </a:bodyPr>
          <a:lstStyle/>
          <a:p>
            <a:pPr>
              <a:spcAft>
                <a:spcPts val="600"/>
              </a:spcAft>
              <a:defRPr sz="1800" b="0">
                <a:solidFill>
                  <a:srgbClr val="153A2D"/>
                </a:solidFill>
                <a:latin typeface="Aptos"/>
              </a:defRPr>
            </a:pPr>
            <a:r>
              <a:t>Finish a pandas transform,</a:t>
            </a:r>
          </a:p>
          <a:p>
            <a:pPr>
              <a:spcAft>
                <a:spcPts val="600"/>
              </a:spcAft>
              <a:defRPr sz="1800" b="0">
                <a:solidFill>
                  <a:srgbClr val="153A2D"/>
                </a:solidFill>
                <a:latin typeface="Aptos"/>
              </a:defRPr>
            </a:pPr>
            <a:r>
              <a:t>a SQL query or a test assertion.</a:t>
            </a:r>
          </a:p>
        </p:txBody>
      </p:sp>
      <p:sp>
        <p:nvSpPr>
          <p:cNvPr id="14" name="TextBox 13"/>
          <p:cNvSpPr txBox="1"/>
          <p:nvPr/>
        </p:nvSpPr>
        <p:spPr>
          <a:xfrm>
            <a:off x="758952" y="4782312"/>
            <a:ext cx="3035808" cy="329184"/>
          </a:xfrm>
          <a:prstGeom prst="rect">
            <a:avLst/>
          </a:prstGeom>
          <a:noFill/>
        </p:spPr>
        <p:txBody>
          <a:bodyPr wrap="square" lIns="0" rIns="0" tIns="0" bIns="0">
            <a:spAutoFit/>
          </a:bodyPr>
          <a:lstStyle/>
          <a:p>
            <a:pPr>
              <a:spcAft>
                <a:spcPts val="600"/>
              </a:spcAft>
              <a:defRPr sz="1300" b="1">
                <a:solidFill>
                  <a:srgbClr val="526B60"/>
                </a:solidFill>
                <a:latin typeface="Aptos"/>
              </a:defRPr>
            </a:pPr>
            <a:r>
              <a:t>You steer every edit.</a:t>
            </a:r>
          </a:p>
        </p:txBody>
      </p:sp>
      <p:sp>
        <p:nvSpPr>
          <p:cNvPr id="15" name="Rectangle 14"/>
          <p:cNvSpPr/>
          <p:nvPr/>
        </p:nvSpPr>
        <p:spPr>
          <a:xfrm>
            <a:off x="731520" y="5248656"/>
            <a:ext cx="3108960" cy="22860"/>
          </a:xfrm>
          <a:prstGeom prst="rect">
            <a:avLst/>
          </a:prstGeom>
          <a:solidFill>
            <a:srgbClr val="D4E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58952" y="5431536"/>
            <a:ext cx="3035808" cy="393192"/>
          </a:xfrm>
          <a:prstGeom prst="rect">
            <a:avLst/>
          </a:prstGeom>
          <a:noFill/>
        </p:spPr>
        <p:txBody>
          <a:bodyPr wrap="square" lIns="0" rIns="0" tIns="0" bIns="0">
            <a:spAutoFit/>
          </a:bodyPr>
          <a:lstStyle/>
          <a:p>
            <a:pPr>
              <a:spcAft>
                <a:spcPts val="600"/>
              </a:spcAft>
              <a:defRPr sz="1100" b="0">
                <a:solidFill>
                  <a:srgbClr val="526B60"/>
                </a:solidFill>
                <a:latin typeface="Consolas"/>
              </a:defRPr>
            </a:pPr>
            <a:r>
              <a:t># aggregate transactions</a:t>
            </a:r>
          </a:p>
          <a:p>
            <a:pPr>
              <a:spcAft>
                <a:spcPts val="600"/>
              </a:spcAft>
              <a:defRPr sz="1100" b="0">
                <a:solidFill>
                  <a:srgbClr val="526B60"/>
                </a:solidFill>
                <a:latin typeface="Consolas"/>
              </a:defRPr>
            </a:pPr>
            <a:r>
              <a:t># by customer and month</a:t>
            </a:r>
          </a:p>
        </p:txBody>
      </p:sp>
      <p:sp>
        <p:nvSpPr>
          <p:cNvPr id="17" name="Rounded Rectangle 16"/>
          <p:cNvSpPr/>
          <p:nvPr/>
        </p:nvSpPr>
        <p:spPr>
          <a:xfrm>
            <a:off x="4361688" y="2322576"/>
            <a:ext cx="3474720" cy="3566160"/>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578608"/>
            <a:ext cx="3035808"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02 / ASK</a:t>
            </a:r>
          </a:p>
        </p:txBody>
      </p:sp>
      <p:sp>
        <p:nvSpPr>
          <p:cNvPr id="19" name="TextBox 18"/>
          <p:cNvSpPr txBox="1"/>
          <p:nvPr/>
        </p:nvSpPr>
        <p:spPr>
          <a:xfrm>
            <a:off x="4572000" y="2971800"/>
            <a:ext cx="3035808" cy="438912"/>
          </a:xfrm>
          <a:prstGeom prst="rect">
            <a:avLst/>
          </a:prstGeom>
          <a:noFill/>
        </p:spPr>
        <p:txBody>
          <a:bodyPr wrap="square" lIns="0" rIns="0" tIns="0" bIns="0">
            <a:spAutoFit/>
          </a:bodyPr>
          <a:lstStyle/>
          <a:p>
            <a:pPr>
              <a:spcAft>
                <a:spcPts val="600"/>
              </a:spcAft>
              <a:defRPr sz="2700" b="1">
                <a:solidFill>
                  <a:srgbClr val="153A2D"/>
                </a:solidFill>
                <a:latin typeface="Aptos"/>
              </a:defRPr>
            </a:pPr>
            <a:r>
              <a:t>Think it through</a:t>
            </a:r>
          </a:p>
        </p:txBody>
      </p:sp>
      <p:sp>
        <p:nvSpPr>
          <p:cNvPr id="20" name="TextBox 19"/>
          <p:cNvSpPr txBox="1"/>
          <p:nvPr/>
        </p:nvSpPr>
        <p:spPr>
          <a:xfrm>
            <a:off x="4572000" y="3511296"/>
            <a:ext cx="3035808" cy="256032"/>
          </a:xfrm>
          <a:prstGeom prst="rect">
            <a:avLst/>
          </a:prstGeom>
          <a:noFill/>
        </p:spPr>
        <p:txBody>
          <a:bodyPr wrap="square" lIns="0" rIns="0" tIns="0" bIns="0">
            <a:spAutoFit/>
          </a:bodyPr>
          <a:lstStyle/>
          <a:p>
            <a:pPr>
              <a:spcAft>
                <a:spcPts val="600"/>
              </a:spcAft>
              <a:defRPr sz="1300" b="1">
                <a:solidFill>
                  <a:srgbClr val="00874E"/>
                </a:solidFill>
                <a:latin typeface="Aptos"/>
              </a:defRPr>
            </a:pPr>
            <a:r>
              <a:t>Conversational help</a:t>
            </a:r>
          </a:p>
        </p:txBody>
      </p:sp>
      <p:sp>
        <p:nvSpPr>
          <p:cNvPr id="21" name="TextBox 20"/>
          <p:cNvSpPr txBox="1"/>
          <p:nvPr/>
        </p:nvSpPr>
        <p:spPr>
          <a:xfrm>
            <a:off x="4572000" y="3904487"/>
            <a:ext cx="3035808" cy="740664"/>
          </a:xfrm>
          <a:prstGeom prst="rect">
            <a:avLst/>
          </a:prstGeom>
          <a:noFill/>
        </p:spPr>
        <p:txBody>
          <a:bodyPr wrap="square" lIns="0" rIns="0" tIns="0" bIns="0">
            <a:spAutoFit/>
          </a:bodyPr>
          <a:lstStyle/>
          <a:p>
            <a:pPr>
              <a:spcAft>
                <a:spcPts val="600"/>
              </a:spcAft>
              <a:defRPr sz="1800" b="0">
                <a:solidFill>
                  <a:srgbClr val="153A2D"/>
                </a:solidFill>
                <a:latin typeface="Aptos"/>
              </a:defRPr>
            </a:pPr>
            <a:r>
              <a:t>Explain a notebook, compare</a:t>
            </a:r>
          </a:p>
          <a:p>
            <a:pPr>
              <a:spcAft>
                <a:spcPts val="600"/>
              </a:spcAft>
              <a:defRPr sz="1800" b="0">
                <a:solidFill>
                  <a:srgbClr val="153A2D"/>
                </a:solidFill>
                <a:latin typeface="Aptos"/>
              </a:defRPr>
            </a:pPr>
            <a:r>
              <a:t>metrics or challenge a split.</a:t>
            </a:r>
          </a:p>
        </p:txBody>
      </p:sp>
      <p:sp>
        <p:nvSpPr>
          <p:cNvPr id="22" name="TextBox 21"/>
          <p:cNvSpPr txBox="1"/>
          <p:nvPr/>
        </p:nvSpPr>
        <p:spPr>
          <a:xfrm>
            <a:off x="4572000" y="4782312"/>
            <a:ext cx="3035808" cy="329184"/>
          </a:xfrm>
          <a:prstGeom prst="rect">
            <a:avLst/>
          </a:prstGeom>
          <a:noFill/>
        </p:spPr>
        <p:txBody>
          <a:bodyPr wrap="square" lIns="0" rIns="0" tIns="0" bIns="0">
            <a:spAutoFit/>
          </a:bodyPr>
          <a:lstStyle/>
          <a:p>
            <a:pPr>
              <a:spcAft>
                <a:spcPts val="600"/>
              </a:spcAft>
              <a:defRPr sz="1300" b="1">
                <a:solidFill>
                  <a:srgbClr val="526B60"/>
                </a:solidFill>
                <a:latin typeface="Aptos"/>
              </a:defRPr>
            </a:pPr>
            <a:r>
              <a:t>Advice first; apply deliberately.</a:t>
            </a:r>
          </a:p>
        </p:txBody>
      </p:sp>
      <p:sp>
        <p:nvSpPr>
          <p:cNvPr id="23" name="Rectangle 22"/>
          <p:cNvSpPr/>
          <p:nvPr/>
        </p:nvSpPr>
        <p:spPr>
          <a:xfrm>
            <a:off x="4544568" y="5248656"/>
            <a:ext cx="3108960" cy="22860"/>
          </a:xfrm>
          <a:prstGeom prst="rect">
            <a:avLst/>
          </a:prstGeom>
          <a:solidFill>
            <a:srgbClr val="D4E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72000" y="5431536"/>
            <a:ext cx="3035808" cy="393192"/>
          </a:xfrm>
          <a:prstGeom prst="rect">
            <a:avLst/>
          </a:prstGeom>
          <a:noFill/>
        </p:spPr>
        <p:txBody>
          <a:bodyPr wrap="square" lIns="0" rIns="0" tIns="0" bIns="0">
            <a:spAutoFit/>
          </a:bodyPr>
          <a:lstStyle/>
          <a:p>
            <a:pPr>
              <a:spcAft>
                <a:spcPts val="600"/>
              </a:spcAft>
              <a:defRPr sz="1100" b="0">
                <a:solidFill>
                  <a:srgbClr val="526B60"/>
                </a:solidFill>
                <a:latin typeface="Consolas"/>
              </a:defRPr>
            </a:pPr>
            <a:r>
              <a:t>"Could this feature leak</a:t>
            </a:r>
          </a:p>
          <a:p>
            <a:pPr>
              <a:spcAft>
                <a:spcPts val="600"/>
              </a:spcAft>
              <a:defRPr sz="1100" b="0">
                <a:solidFill>
                  <a:srgbClr val="526B60"/>
                </a:solidFill>
                <a:latin typeface="Consolas"/>
              </a:defRPr>
            </a:pPr>
            <a:r>
              <a:t>future information?"</a:t>
            </a:r>
          </a:p>
        </p:txBody>
      </p:sp>
      <p:sp>
        <p:nvSpPr>
          <p:cNvPr id="25" name="Rounded Rectangle 24"/>
          <p:cNvSpPr/>
          <p:nvPr/>
        </p:nvSpPr>
        <p:spPr>
          <a:xfrm>
            <a:off x="8174736" y="2322576"/>
            <a:ext cx="3474720" cy="3566160"/>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385048" y="2578608"/>
            <a:ext cx="3035808"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03 / AGENTIC</a:t>
            </a:r>
          </a:p>
        </p:txBody>
      </p:sp>
      <p:sp>
        <p:nvSpPr>
          <p:cNvPr id="27" name="TextBox 26"/>
          <p:cNvSpPr txBox="1"/>
          <p:nvPr/>
        </p:nvSpPr>
        <p:spPr>
          <a:xfrm>
            <a:off x="8385048" y="2971800"/>
            <a:ext cx="3035808" cy="438912"/>
          </a:xfrm>
          <a:prstGeom prst="rect">
            <a:avLst/>
          </a:prstGeom>
          <a:noFill/>
        </p:spPr>
        <p:txBody>
          <a:bodyPr wrap="square" lIns="0" rIns="0" tIns="0" bIns="0">
            <a:spAutoFit/>
          </a:bodyPr>
          <a:lstStyle/>
          <a:p>
            <a:pPr>
              <a:spcAft>
                <a:spcPts val="600"/>
              </a:spcAft>
              <a:defRPr sz="2700" b="1">
                <a:solidFill>
                  <a:srgbClr val="153A2D"/>
                </a:solidFill>
                <a:latin typeface="Aptos"/>
              </a:defRPr>
            </a:pPr>
            <a:r>
              <a:t>Delegate a task</a:t>
            </a:r>
          </a:p>
        </p:txBody>
      </p:sp>
      <p:sp>
        <p:nvSpPr>
          <p:cNvPr id="28" name="TextBox 27"/>
          <p:cNvSpPr txBox="1"/>
          <p:nvPr/>
        </p:nvSpPr>
        <p:spPr>
          <a:xfrm>
            <a:off x="8385048" y="3511296"/>
            <a:ext cx="3035808" cy="256032"/>
          </a:xfrm>
          <a:prstGeom prst="rect">
            <a:avLst/>
          </a:prstGeom>
          <a:noFill/>
        </p:spPr>
        <p:txBody>
          <a:bodyPr wrap="square" lIns="0" rIns="0" tIns="0" bIns="0">
            <a:spAutoFit/>
          </a:bodyPr>
          <a:lstStyle/>
          <a:p>
            <a:pPr>
              <a:spcAft>
                <a:spcPts val="600"/>
              </a:spcAft>
              <a:defRPr sz="1300" b="1">
                <a:solidFill>
                  <a:srgbClr val="00874E"/>
                </a:solidFill>
                <a:latin typeface="Aptos"/>
              </a:defRPr>
            </a:pPr>
            <a:r>
              <a:t>Agent + tools</a:t>
            </a:r>
          </a:p>
        </p:txBody>
      </p:sp>
      <p:sp>
        <p:nvSpPr>
          <p:cNvPr id="29" name="TextBox 28"/>
          <p:cNvSpPr txBox="1"/>
          <p:nvPr/>
        </p:nvSpPr>
        <p:spPr>
          <a:xfrm>
            <a:off x="8385048" y="3904487"/>
            <a:ext cx="3035808" cy="740664"/>
          </a:xfrm>
          <a:prstGeom prst="rect">
            <a:avLst/>
          </a:prstGeom>
          <a:noFill/>
        </p:spPr>
        <p:txBody>
          <a:bodyPr wrap="square" lIns="0" rIns="0" tIns="0" bIns="0">
            <a:spAutoFit/>
          </a:bodyPr>
          <a:lstStyle/>
          <a:p>
            <a:pPr>
              <a:spcAft>
                <a:spcPts val="600"/>
              </a:spcAft>
              <a:defRPr sz="1800" b="0">
                <a:solidFill>
                  <a:srgbClr val="153A2D"/>
                </a:solidFill>
                <a:latin typeface="Aptos"/>
              </a:defRPr>
            </a:pPr>
            <a:r>
              <a:t>Edit related files, run tests</a:t>
            </a:r>
          </a:p>
          <a:p>
            <a:pPr>
              <a:spcAft>
                <a:spcPts val="600"/>
              </a:spcAft>
              <a:defRPr sz="1800" b="0">
                <a:solidFill>
                  <a:srgbClr val="153A2D"/>
                </a:solidFill>
                <a:latin typeface="Aptos"/>
              </a:defRPr>
            </a:pPr>
            <a:r>
              <a:t>and iterate on a bounded task.</a:t>
            </a:r>
          </a:p>
        </p:txBody>
      </p:sp>
      <p:sp>
        <p:nvSpPr>
          <p:cNvPr id="30" name="TextBox 29"/>
          <p:cNvSpPr txBox="1"/>
          <p:nvPr/>
        </p:nvSpPr>
        <p:spPr>
          <a:xfrm>
            <a:off x="8385048" y="4782312"/>
            <a:ext cx="3035808" cy="329184"/>
          </a:xfrm>
          <a:prstGeom prst="rect">
            <a:avLst/>
          </a:prstGeom>
          <a:noFill/>
        </p:spPr>
        <p:txBody>
          <a:bodyPr wrap="square" lIns="0" rIns="0" tIns="0" bIns="0">
            <a:spAutoFit/>
          </a:bodyPr>
          <a:lstStyle/>
          <a:p>
            <a:pPr>
              <a:spcAft>
                <a:spcPts val="600"/>
              </a:spcAft>
              <a:defRPr sz="1300" b="1">
                <a:solidFill>
                  <a:srgbClr val="526B60"/>
                </a:solidFill>
                <a:latin typeface="Aptos"/>
              </a:defRPr>
            </a:pPr>
            <a:r>
              <a:t>Review diffs and tool actions.</a:t>
            </a:r>
          </a:p>
        </p:txBody>
      </p:sp>
      <p:sp>
        <p:nvSpPr>
          <p:cNvPr id="31" name="Rectangle 30"/>
          <p:cNvSpPr/>
          <p:nvPr/>
        </p:nvSpPr>
        <p:spPr>
          <a:xfrm>
            <a:off x="8357615" y="5248656"/>
            <a:ext cx="3108960" cy="22860"/>
          </a:xfrm>
          <a:prstGeom prst="rect">
            <a:avLst/>
          </a:prstGeom>
          <a:solidFill>
            <a:srgbClr val="D4E4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385048" y="5431536"/>
            <a:ext cx="3035808" cy="393192"/>
          </a:xfrm>
          <a:prstGeom prst="rect">
            <a:avLst/>
          </a:prstGeom>
          <a:noFill/>
        </p:spPr>
        <p:txBody>
          <a:bodyPr wrap="square" lIns="0" rIns="0" tIns="0" bIns="0">
            <a:spAutoFit/>
          </a:bodyPr>
          <a:lstStyle/>
          <a:p>
            <a:pPr>
              <a:spcAft>
                <a:spcPts val="600"/>
              </a:spcAft>
              <a:defRPr sz="1100" b="0">
                <a:solidFill>
                  <a:srgbClr val="526B60"/>
                </a:solidFill>
                <a:latin typeface="Consolas"/>
              </a:defRPr>
            </a:pPr>
            <a:r>
              <a:t>"Build a baseline pipeline</a:t>
            </a:r>
          </a:p>
          <a:p>
            <a:pPr>
              <a:spcAft>
                <a:spcPts val="600"/>
              </a:spcAft>
              <a:defRPr sz="1100" b="0">
                <a:solidFill>
                  <a:srgbClr val="526B60"/>
                </a:solidFill>
                <a:latin typeface="Consolas"/>
              </a:defRPr>
            </a:pPr>
            <a:r>
              <a:t>and run its unit tests."</a:t>
            </a:r>
          </a:p>
        </p:txBody>
      </p:sp>
      <p:sp>
        <p:nvSpPr>
          <p:cNvPr id="33" name="TextBox 32"/>
          <p:cNvSpPr txBox="1"/>
          <p:nvPr/>
        </p:nvSpPr>
        <p:spPr>
          <a:xfrm>
            <a:off x="566928" y="6062472"/>
            <a:ext cx="10972800" cy="237744"/>
          </a:xfrm>
          <a:prstGeom prst="rect">
            <a:avLst/>
          </a:prstGeom>
          <a:noFill/>
        </p:spPr>
        <p:txBody>
          <a:bodyPr wrap="square" lIns="0" rIns="0" tIns="0" bIns="0">
            <a:spAutoFit/>
          </a:bodyPr>
          <a:lstStyle/>
          <a:p>
            <a:pPr>
              <a:spcAft>
                <a:spcPts val="600"/>
              </a:spcAft>
              <a:defRPr sz="1300" b="0">
                <a:solidFill>
                  <a:srgbClr val="526B60"/>
                </a:solidFill>
                <a:latin typeface="Aptos"/>
              </a:defRPr>
            </a:pPr>
            <a:r>
              <a:t>More autonomy does not mean less accountability. Keep context scoped and permissions intentional.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AF7"/>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93192"/>
            <a:ext cx="10058400"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GITHUB COPILOT  /  VS CODE</a:t>
            </a:r>
          </a:p>
        </p:txBody>
      </p:sp>
      <p:sp>
        <p:nvSpPr>
          <p:cNvPr id="4" name="TextBox 3"/>
          <p:cNvSpPr txBox="1"/>
          <p:nvPr/>
        </p:nvSpPr>
        <p:spPr>
          <a:xfrm>
            <a:off x="530352" y="850392"/>
            <a:ext cx="11109960" cy="594360"/>
          </a:xfrm>
          <a:prstGeom prst="rect">
            <a:avLst/>
          </a:prstGeom>
          <a:noFill/>
        </p:spPr>
        <p:txBody>
          <a:bodyPr wrap="square" lIns="0" rIns="0" tIns="0" bIns="0">
            <a:spAutoFit/>
          </a:bodyPr>
          <a:lstStyle/>
          <a:p>
            <a:pPr>
              <a:spcAft>
                <a:spcPts val="600"/>
              </a:spcAft>
              <a:defRPr sz="3100" b="1">
                <a:solidFill>
                  <a:srgbClr val="153A2D"/>
                </a:solidFill>
                <a:latin typeface="Aptos"/>
              </a:defRPr>
            </a:pPr>
            <a:r>
              <a:t>RPI: turn a question into verified work</a:t>
            </a:r>
          </a:p>
        </p:txBody>
      </p:sp>
      <p:sp>
        <p:nvSpPr>
          <p:cNvPr id="5" name="TextBox 4"/>
          <p:cNvSpPr txBox="1"/>
          <p:nvPr/>
        </p:nvSpPr>
        <p:spPr>
          <a:xfrm>
            <a:off x="548640" y="1508760"/>
            <a:ext cx="11018520" cy="548640"/>
          </a:xfrm>
          <a:prstGeom prst="rect">
            <a:avLst/>
          </a:prstGeom>
          <a:noFill/>
        </p:spPr>
        <p:txBody>
          <a:bodyPr wrap="square" lIns="0" rIns="0" tIns="0" bIns="0">
            <a:spAutoFit/>
          </a:bodyPr>
          <a:lstStyle/>
          <a:p>
            <a:pPr>
              <a:spcAft>
                <a:spcPts val="600"/>
              </a:spcAft>
              <a:defRPr sz="1700" b="0">
                <a:solidFill>
                  <a:srgbClr val="526B60"/>
                </a:solidFill>
                <a:latin typeface="Aptos"/>
              </a:defRPr>
            </a:pPr>
            <a:r>
              <a:t>HVE Core on GitHub: Research -&gt; Plan -&gt; Implement, with review and follow-up.</a:t>
            </a:r>
          </a:p>
        </p:txBody>
      </p:sp>
      <p:sp>
        <p:nvSpPr>
          <p:cNvPr id="6" name="TextBox 5"/>
          <p:cNvSpPr txBox="1"/>
          <p:nvPr/>
        </p:nvSpPr>
        <p:spPr>
          <a:xfrm>
            <a:off x="530352" y="6492240"/>
            <a:ext cx="8961120" cy="173736"/>
          </a:xfrm>
          <a:prstGeom prst="rect">
            <a:avLst/>
          </a:prstGeom>
          <a:noFill/>
        </p:spPr>
        <p:txBody>
          <a:bodyPr wrap="square" lIns="0" rIns="0" tIns="0" bIns="0">
            <a:spAutoFit/>
          </a:bodyPr>
          <a:lstStyle/>
          <a:p>
            <a:pPr>
              <a:spcAft>
                <a:spcPts val="600"/>
              </a:spcAft>
              <a:defRPr sz="800" b="0">
                <a:solidFill>
                  <a:srgbClr val="526B60"/>
                </a:solidFill>
                <a:latin typeface="Aptos"/>
              </a:defRPr>
            </a:pPr>
            <a:r>
              <a:t>DESJARDINS-INSPIRED  /  GITHUB COPILOT FOR DATA SCIENCE</a:t>
            </a:r>
          </a:p>
        </p:txBody>
      </p:sp>
      <p:sp>
        <p:nvSpPr>
          <p:cNvPr id="7" name="TextBox 6"/>
          <p:cNvSpPr txBox="1"/>
          <p:nvPr/>
        </p:nvSpPr>
        <p:spPr>
          <a:xfrm>
            <a:off x="9646920" y="6473952"/>
            <a:ext cx="1325880" cy="210312"/>
          </a:xfrm>
          <a:prstGeom prst="rect">
            <a:avLst/>
          </a:prstGeom>
          <a:noFill/>
        </p:spPr>
        <p:txBody>
          <a:bodyPr wrap="square" lIns="0" rIns="0" tIns="0" bIns="0">
            <a:spAutoFit/>
          </a:bodyPr>
          <a:lstStyle/>
          <a:p>
            <a:pPr>
              <a:spcAft>
                <a:spcPts val="600"/>
              </a:spcAft>
              <a:defRPr sz="900" b="0">
                <a:solidFill>
                  <a:srgbClr val="526B60"/>
                </a:solidFill>
                <a:latin typeface="Aptos"/>
              </a:defRPr>
            </a:pPr>
            <a:r>
              <a:rPr>
                <a:hlinkClick r:id="rId2"/>
              </a:rPr>
              <a:t>Source / reference</a:t>
            </a:r>
          </a:p>
        </p:txBody>
      </p:sp>
      <p:sp>
        <p:nvSpPr>
          <p:cNvPr id="8" name="TextBox 7"/>
          <p:cNvSpPr txBox="1"/>
          <p:nvPr/>
        </p:nvSpPr>
        <p:spPr>
          <a:xfrm>
            <a:off x="11082528" y="6455664"/>
            <a:ext cx="502920" cy="237744"/>
          </a:xfrm>
          <a:prstGeom prst="rect">
            <a:avLst/>
          </a:prstGeom>
          <a:noFill/>
        </p:spPr>
        <p:txBody>
          <a:bodyPr wrap="square" lIns="0" rIns="0" tIns="0" bIns="0">
            <a:spAutoFit/>
          </a:bodyPr>
          <a:lstStyle/>
          <a:p>
            <a:pPr>
              <a:spcAft>
                <a:spcPts val="600"/>
              </a:spcAft>
              <a:defRPr sz="900" b="1">
                <a:solidFill>
                  <a:srgbClr val="526B60"/>
                </a:solidFill>
                <a:latin typeface="Aptos"/>
              </a:defRPr>
            </a:pPr>
            <a:r>
              <a:t>03 / 05</a:t>
            </a:r>
          </a:p>
        </p:txBody>
      </p:sp>
      <p:sp>
        <p:nvSpPr>
          <p:cNvPr id="9" name="Rounded Rectangle 8"/>
          <p:cNvSpPr/>
          <p:nvPr/>
        </p:nvSpPr>
        <p:spPr>
          <a:xfrm>
            <a:off x="548640" y="2322576"/>
            <a:ext cx="3474720" cy="3227832"/>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758952" y="2551176"/>
            <a:ext cx="475488" cy="475488"/>
          </a:xfrm>
          <a:prstGeom prst="ellipse">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96112" y="2633472"/>
            <a:ext cx="274320" cy="274320"/>
          </a:xfrm>
          <a:prstGeom prst="rect">
            <a:avLst/>
          </a:prstGeom>
          <a:noFill/>
        </p:spPr>
        <p:txBody>
          <a:bodyPr wrap="square" lIns="0" rIns="0" tIns="0" bIns="0">
            <a:spAutoFit/>
          </a:bodyPr>
          <a:lstStyle/>
          <a:p>
            <a:pPr>
              <a:spcAft>
                <a:spcPts val="600"/>
              </a:spcAft>
              <a:defRPr sz="1800" b="1">
                <a:solidFill>
                  <a:srgbClr val="FFFFFF"/>
                </a:solidFill>
                <a:latin typeface="Aptos"/>
              </a:defRPr>
            </a:pPr>
            <a:r>
              <a:t>R</a:t>
            </a:r>
          </a:p>
        </p:txBody>
      </p:sp>
      <p:sp>
        <p:nvSpPr>
          <p:cNvPr id="12" name="TextBox 11"/>
          <p:cNvSpPr txBox="1"/>
          <p:nvPr/>
        </p:nvSpPr>
        <p:spPr>
          <a:xfrm>
            <a:off x="1371600" y="2560320"/>
            <a:ext cx="2377440" cy="438912"/>
          </a:xfrm>
          <a:prstGeom prst="rect">
            <a:avLst/>
          </a:prstGeom>
          <a:noFill/>
        </p:spPr>
        <p:txBody>
          <a:bodyPr wrap="square" lIns="0" rIns="0" tIns="0" bIns="0">
            <a:spAutoFit/>
          </a:bodyPr>
          <a:lstStyle/>
          <a:p>
            <a:pPr>
              <a:spcAft>
                <a:spcPts val="600"/>
              </a:spcAft>
              <a:defRPr sz="2600" b="1">
                <a:solidFill>
                  <a:srgbClr val="153A2D"/>
                </a:solidFill>
                <a:latin typeface="Aptos"/>
              </a:defRPr>
            </a:pPr>
            <a:r>
              <a:t>Research</a:t>
            </a:r>
          </a:p>
        </p:txBody>
      </p:sp>
      <p:sp>
        <p:nvSpPr>
          <p:cNvPr id="13" name="TextBox 12"/>
          <p:cNvSpPr txBox="1"/>
          <p:nvPr/>
        </p:nvSpPr>
        <p:spPr>
          <a:xfrm>
            <a:off x="758952" y="3191256"/>
            <a:ext cx="3054096" cy="283464"/>
          </a:xfrm>
          <a:prstGeom prst="rect">
            <a:avLst/>
          </a:prstGeom>
          <a:noFill/>
        </p:spPr>
        <p:txBody>
          <a:bodyPr wrap="square" lIns="0" rIns="0" tIns="0" bIns="0">
            <a:spAutoFit/>
          </a:bodyPr>
          <a:lstStyle/>
          <a:p>
            <a:pPr>
              <a:spcAft>
                <a:spcPts val="600"/>
              </a:spcAft>
              <a:defRPr sz="1400" b="1">
                <a:solidFill>
                  <a:srgbClr val="00874E"/>
                </a:solidFill>
                <a:latin typeface="Aptos"/>
              </a:defRPr>
            </a:pPr>
            <a:r>
              <a:t>Understand before editing</a:t>
            </a:r>
          </a:p>
        </p:txBody>
      </p:sp>
      <p:sp>
        <p:nvSpPr>
          <p:cNvPr id="14" name="TextBox 13"/>
          <p:cNvSpPr txBox="1"/>
          <p:nvPr/>
        </p:nvSpPr>
        <p:spPr>
          <a:xfrm>
            <a:off x="758952" y="3666744"/>
            <a:ext cx="3054096" cy="1124712"/>
          </a:xfrm>
          <a:prstGeom prst="rect">
            <a:avLst/>
          </a:prstGeom>
          <a:noFill/>
        </p:spPr>
        <p:txBody>
          <a:bodyPr wrap="square" lIns="0" rIns="0" tIns="0" bIns="0">
            <a:spAutoFit/>
          </a:bodyPr>
          <a:lstStyle/>
          <a:p>
            <a:pPr>
              <a:spcAft>
                <a:spcPts val="600"/>
              </a:spcAft>
              <a:defRPr sz="1700" b="0">
                <a:solidFill>
                  <a:srgbClr val="153A2D"/>
                </a:solidFill>
                <a:latin typeface="Aptos"/>
              </a:defRPr>
            </a:pPr>
            <a:r>
              <a:t>Inspect data contracts and code.</a:t>
            </a:r>
          </a:p>
          <a:p>
            <a:pPr>
              <a:spcAft>
                <a:spcPts val="600"/>
              </a:spcAft>
              <a:defRPr sz="1700" b="0">
                <a:solidFill>
                  <a:srgbClr val="153A2D"/>
                </a:solidFill>
                <a:latin typeface="Aptos"/>
              </a:defRPr>
            </a:pPr>
            <a:r>
              <a:t>Check leakage and alternatives.</a:t>
            </a:r>
          </a:p>
          <a:p>
            <a:pPr>
              <a:spcAft>
                <a:spcPts val="600"/>
              </a:spcAft>
              <a:defRPr sz="1700" b="0">
                <a:solidFill>
                  <a:srgbClr val="153A2D"/>
                </a:solidFill>
                <a:latin typeface="Aptos"/>
              </a:defRPr>
            </a:pPr>
            <a:r>
              <a:t>Separate evidence from assumptions.</a:t>
            </a:r>
          </a:p>
        </p:txBody>
      </p:sp>
      <p:sp>
        <p:nvSpPr>
          <p:cNvPr id="15" name="TextBox 14"/>
          <p:cNvSpPr txBox="1"/>
          <p:nvPr/>
        </p:nvSpPr>
        <p:spPr>
          <a:xfrm>
            <a:off x="758952" y="4892040"/>
            <a:ext cx="3054096" cy="265176"/>
          </a:xfrm>
          <a:prstGeom prst="rect">
            <a:avLst/>
          </a:prstGeom>
          <a:noFill/>
        </p:spPr>
        <p:txBody>
          <a:bodyPr wrap="square" lIns="0" rIns="0" tIns="0" bIns="0">
            <a:spAutoFit/>
          </a:bodyPr>
          <a:lstStyle/>
          <a:p>
            <a:pPr>
              <a:spcAft>
                <a:spcPts val="600"/>
              </a:spcAft>
              <a:defRPr sz="1200" b="1">
                <a:solidFill>
                  <a:srgbClr val="526B60"/>
                </a:solidFill>
                <a:latin typeface="Aptos"/>
              </a:defRPr>
            </a:pPr>
            <a:r>
              <a:t>Output: findings + open decisions</a:t>
            </a:r>
          </a:p>
        </p:txBody>
      </p:sp>
      <p:sp>
        <p:nvSpPr>
          <p:cNvPr id="16" name="TextBox 15"/>
          <p:cNvSpPr txBox="1"/>
          <p:nvPr/>
        </p:nvSpPr>
        <p:spPr>
          <a:xfrm>
            <a:off x="758952" y="5276088"/>
            <a:ext cx="3054096" cy="237744"/>
          </a:xfrm>
          <a:prstGeom prst="rect">
            <a:avLst/>
          </a:prstGeom>
          <a:noFill/>
        </p:spPr>
        <p:txBody>
          <a:bodyPr wrap="square" lIns="0" rIns="0" tIns="0" bIns="0">
            <a:spAutoFit/>
          </a:bodyPr>
          <a:lstStyle/>
          <a:p>
            <a:pPr>
              <a:spcAft>
                <a:spcPts val="600"/>
              </a:spcAft>
              <a:defRPr sz="1200" b="0">
                <a:solidFill>
                  <a:srgbClr val="00874E"/>
                </a:solidFill>
                <a:latin typeface="Consolas"/>
              </a:defRPr>
            </a:pPr>
            <a:r>
              <a:t>/rpi-research</a:t>
            </a:r>
          </a:p>
        </p:txBody>
      </p:sp>
      <p:sp>
        <p:nvSpPr>
          <p:cNvPr id="17" name="Rounded Rectangle 16"/>
          <p:cNvSpPr/>
          <p:nvPr/>
        </p:nvSpPr>
        <p:spPr>
          <a:xfrm>
            <a:off x="4361688" y="2322576"/>
            <a:ext cx="3474720" cy="3227832"/>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val 17"/>
          <p:cNvSpPr/>
          <p:nvPr/>
        </p:nvSpPr>
        <p:spPr>
          <a:xfrm>
            <a:off x="4572000" y="2551176"/>
            <a:ext cx="475488" cy="475488"/>
          </a:xfrm>
          <a:prstGeom prst="ellipse">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709159" y="2633472"/>
            <a:ext cx="274320" cy="274320"/>
          </a:xfrm>
          <a:prstGeom prst="rect">
            <a:avLst/>
          </a:prstGeom>
          <a:noFill/>
        </p:spPr>
        <p:txBody>
          <a:bodyPr wrap="square" lIns="0" rIns="0" tIns="0" bIns="0">
            <a:spAutoFit/>
          </a:bodyPr>
          <a:lstStyle/>
          <a:p>
            <a:pPr>
              <a:spcAft>
                <a:spcPts val="600"/>
              </a:spcAft>
              <a:defRPr sz="1800" b="1">
                <a:solidFill>
                  <a:srgbClr val="FFFFFF"/>
                </a:solidFill>
                <a:latin typeface="Aptos"/>
              </a:defRPr>
            </a:pPr>
            <a:r>
              <a:t>P</a:t>
            </a:r>
          </a:p>
        </p:txBody>
      </p:sp>
      <p:sp>
        <p:nvSpPr>
          <p:cNvPr id="20" name="TextBox 19"/>
          <p:cNvSpPr txBox="1"/>
          <p:nvPr/>
        </p:nvSpPr>
        <p:spPr>
          <a:xfrm>
            <a:off x="5184648" y="2560320"/>
            <a:ext cx="2377440" cy="438912"/>
          </a:xfrm>
          <a:prstGeom prst="rect">
            <a:avLst/>
          </a:prstGeom>
          <a:noFill/>
        </p:spPr>
        <p:txBody>
          <a:bodyPr wrap="square" lIns="0" rIns="0" tIns="0" bIns="0">
            <a:spAutoFit/>
          </a:bodyPr>
          <a:lstStyle/>
          <a:p>
            <a:pPr>
              <a:spcAft>
                <a:spcPts val="600"/>
              </a:spcAft>
              <a:defRPr sz="2600" b="1">
                <a:solidFill>
                  <a:srgbClr val="153A2D"/>
                </a:solidFill>
                <a:latin typeface="Aptos"/>
              </a:defRPr>
            </a:pPr>
            <a:r>
              <a:t>Plan</a:t>
            </a:r>
          </a:p>
        </p:txBody>
      </p:sp>
      <p:sp>
        <p:nvSpPr>
          <p:cNvPr id="21" name="TextBox 20"/>
          <p:cNvSpPr txBox="1"/>
          <p:nvPr/>
        </p:nvSpPr>
        <p:spPr>
          <a:xfrm>
            <a:off x="4572000" y="3191256"/>
            <a:ext cx="3054096" cy="283464"/>
          </a:xfrm>
          <a:prstGeom prst="rect">
            <a:avLst/>
          </a:prstGeom>
          <a:noFill/>
        </p:spPr>
        <p:txBody>
          <a:bodyPr wrap="square" lIns="0" rIns="0" tIns="0" bIns="0">
            <a:spAutoFit/>
          </a:bodyPr>
          <a:lstStyle/>
          <a:p>
            <a:pPr>
              <a:spcAft>
                <a:spcPts val="600"/>
              </a:spcAft>
              <a:defRPr sz="1400" b="1">
                <a:solidFill>
                  <a:srgbClr val="00874E"/>
                </a:solidFill>
                <a:latin typeface="Aptos"/>
              </a:defRPr>
            </a:pPr>
            <a:r>
              <a:t>Make success testable</a:t>
            </a:r>
          </a:p>
        </p:txBody>
      </p:sp>
      <p:sp>
        <p:nvSpPr>
          <p:cNvPr id="22" name="TextBox 21"/>
          <p:cNvSpPr txBox="1"/>
          <p:nvPr/>
        </p:nvSpPr>
        <p:spPr>
          <a:xfrm>
            <a:off x="4572000" y="3666744"/>
            <a:ext cx="3054096" cy="1124712"/>
          </a:xfrm>
          <a:prstGeom prst="rect">
            <a:avLst/>
          </a:prstGeom>
          <a:noFill/>
        </p:spPr>
        <p:txBody>
          <a:bodyPr wrap="square" lIns="0" rIns="0" tIns="0" bIns="0">
            <a:spAutoFit/>
          </a:bodyPr>
          <a:lstStyle/>
          <a:p>
            <a:pPr>
              <a:spcAft>
                <a:spcPts val="600"/>
              </a:spcAft>
              <a:defRPr sz="1700" b="0">
                <a:solidFill>
                  <a:srgbClr val="153A2D"/>
                </a:solidFill>
                <a:latin typeface="Aptos"/>
              </a:defRPr>
            </a:pPr>
            <a:r>
              <a:t>Choose the split and metrics.</a:t>
            </a:r>
          </a:p>
          <a:p>
            <a:pPr>
              <a:spcAft>
                <a:spcPts val="600"/>
              </a:spcAft>
              <a:defRPr sz="1700" b="0">
                <a:solidFill>
                  <a:srgbClr val="153A2D"/>
                </a:solidFill>
                <a:latin typeface="Aptos"/>
              </a:defRPr>
            </a:pPr>
            <a:r>
              <a:t>Sequence small, bounded tasks.</a:t>
            </a:r>
          </a:p>
          <a:p>
            <a:pPr>
              <a:spcAft>
                <a:spcPts val="600"/>
              </a:spcAft>
              <a:defRPr sz="1700" b="0">
                <a:solidFill>
                  <a:srgbClr val="153A2D"/>
                </a:solidFill>
                <a:latin typeface="Aptos"/>
              </a:defRPr>
            </a:pPr>
            <a:r>
              <a:t>Define tests and acceptance criteria.</a:t>
            </a:r>
          </a:p>
        </p:txBody>
      </p:sp>
      <p:sp>
        <p:nvSpPr>
          <p:cNvPr id="23" name="TextBox 22"/>
          <p:cNvSpPr txBox="1"/>
          <p:nvPr/>
        </p:nvSpPr>
        <p:spPr>
          <a:xfrm>
            <a:off x="4572000" y="4892040"/>
            <a:ext cx="3054096" cy="265176"/>
          </a:xfrm>
          <a:prstGeom prst="rect">
            <a:avLst/>
          </a:prstGeom>
          <a:noFill/>
        </p:spPr>
        <p:txBody>
          <a:bodyPr wrap="square" lIns="0" rIns="0" tIns="0" bIns="0">
            <a:spAutoFit/>
          </a:bodyPr>
          <a:lstStyle/>
          <a:p>
            <a:pPr>
              <a:spcAft>
                <a:spcPts val="600"/>
              </a:spcAft>
              <a:defRPr sz="1200" b="1">
                <a:solidFill>
                  <a:srgbClr val="526B60"/>
                </a:solidFill>
                <a:latin typeface="Aptos"/>
              </a:defRPr>
            </a:pPr>
            <a:r>
              <a:t>Output: plan + critique</a:t>
            </a:r>
          </a:p>
        </p:txBody>
      </p:sp>
      <p:sp>
        <p:nvSpPr>
          <p:cNvPr id="24" name="TextBox 23"/>
          <p:cNvSpPr txBox="1"/>
          <p:nvPr/>
        </p:nvSpPr>
        <p:spPr>
          <a:xfrm>
            <a:off x="4572000" y="5276088"/>
            <a:ext cx="3054096" cy="237744"/>
          </a:xfrm>
          <a:prstGeom prst="rect">
            <a:avLst/>
          </a:prstGeom>
          <a:noFill/>
        </p:spPr>
        <p:txBody>
          <a:bodyPr wrap="square" lIns="0" rIns="0" tIns="0" bIns="0">
            <a:spAutoFit/>
          </a:bodyPr>
          <a:lstStyle/>
          <a:p>
            <a:pPr>
              <a:spcAft>
                <a:spcPts val="600"/>
              </a:spcAft>
              <a:defRPr sz="1200" b="0">
                <a:solidFill>
                  <a:srgbClr val="00874E"/>
                </a:solidFill>
                <a:latin typeface="Consolas"/>
              </a:defRPr>
            </a:pPr>
            <a:r>
              <a:t>/rpi-plan</a:t>
            </a:r>
          </a:p>
        </p:txBody>
      </p:sp>
      <p:sp>
        <p:nvSpPr>
          <p:cNvPr id="25" name="Rounded Rectangle 24"/>
          <p:cNvSpPr/>
          <p:nvPr/>
        </p:nvSpPr>
        <p:spPr>
          <a:xfrm>
            <a:off x="8174736" y="2322576"/>
            <a:ext cx="3474720" cy="3227832"/>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385048" y="2551176"/>
            <a:ext cx="475488" cy="475488"/>
          </a:xfrm>
          <a:prstGeom prst="ellipse">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22208" y="2633472"/>
            <a:ext cx="274320" cy="274320"/>
          </a:xfrm>
          <a:prstGeom prst="rect">
            <a:avLst/>
          </a:prstGeom>
          <a:noFill/>
        </p:spPr>
        <p:txBody>
          <a:bodyPr wrap="square" lIns="0" rIns="0" tIns="0" bIns="0">
            <a:spAutoFit/>
          </a:bodyPr>
          <a:lstStyle/>
          <a:p>
            <a:pPr>
              <a:spcAft>
                <a:spcPts val="600"/>
              </a:spcAft>
              <a:defRPr sz="1800" b="1">
                <a:solidFill>
                  <a:srgbClr val="FFFFFF"/>
                </a:solidFill>
                <a:latin typeface="Aptos"/>
              </a:defRPr>
            </a:pPr>
            <a:r>
              <a:t>I</a:t>
            </a:r>
          </a:p>
        </p:txBody>
      </p:sp>
      <p:sp>
        <p:nvSpPr>
          <p:cNvPr id="28" name="TextBox 27"/>
          <p:cNvSpPr txBox="1"/>
          <p:nvPr/>
        </p:nvSpPr>
        <p:spPr>
          <a:xfrm>
            <a:off x="8997696" y="2560320"/>
            <a:ext cx="2377440" cy="438912"/>
          </a:xfrm>
          <a:prstGeom prst="rect">
            <a:avLst/>
          </a:prstGeom>
          <a:noFill/>
        </p:spPr>
        <p:txBody>
          <a:bodyPr wrap="square" lIns="0" rIns="0" tIns="0" bIns="0">
            <a:spAutoFit/>
          </a:bodyPr>
          <a:lstStyle/>
          <a:p>
            <a:pPr>
              <a:spcAft>
                <a:spcPts val="600"/>
              </a:spcAft>
              <a:defRPr sz="2600" b="1">
                <a:solidFill>
                  <a:srgbClr val="153A2D"/>
                </a:solidFill>
                <a:latin typeface="Aptos"/>
              </a:defRPr>
            </a:pPr>
            <a:r>
              <a:t>Implement</a:t>
            </a:r>
          </a:p>
        </p:txBody>
      </p:sp>
      <p:sp>
        <p:nvSpPr>
          <p:cNvPr id="29" name="TextBox 28"/>
          <p:cNvSpPr txBox="1"/>
          <p:nvPr/>
        </p:nvSpPr>
        <p:spPr>
          <a:xfrm>
            <a:off x="8385048" y="3191256"/>
            <a:ext cx="3054096" cy="283464"/>
          </a:xfrm>
          <a:prstGeom prst="rect">
            <a:avLst/>
          </a:prstGeom>
          <a:noFill/>
        </p:spPr>
        <p:txBody>
          <a:bodyPr wrap="square" lIns="0" rIns="0" tIns="0" bIns="0">
            <a:spAutoFit/>
          </a:bodyPr>
          <a:lstStyle/>
          <a:p>
            <a:pPr>
              <a:spcAft>
                <a:spcPts val="600"/>
              </a:spcAft>
              <a:defRPr sz="1400" b="1">
                <a:solidFill>
                  <a:srgbClr val="00874E"/>
                </a:solidFill>
                <a:latin typeface="Aptos"/>
              </a:defRPr>
            </a:pPr>
            <a:r>
              <a:t>Execute the approved scope</a:t>
            </a:r>
          </a:p>
        </p:txBody>
      </p:sp>
      <p:sp>
        <p:nvSpPr>
          <p:cNvPr id="30" name="TextBox 29"/>
          <p:cNvSpPr txBox="1"/>
          <p:nvPr/>
        </p:nvSpPr>
        <p:spPr>
          <a:xfrm>
            <a:off x="8385048" y="3666744"/>
            <a:ext cx="3054096" cy="1124712"/>
          </a:xfrm>
          <a:prstGeom prst="rect">
            <a:avLst/>
          </a:prstGeom>
          <a:noFill/>
        </p:spPr>
        <p:txBody>
          <a:bodyPr wrap="square" lIns="0" rIns="0" tIns="0" bIns="0">
            <a:spAutoFit/>
          </a:bodyPr>
          <a:lstStyle/>
          <a:p>
            <a:pPr>
              <a:spcAft>
                <a:spcPts val="600"/>
              </a:spcAft>
              <a:defRPr sz="1700" b="0">
                <a:solidFill>
                  <a:srgbClr val="153A2D"/>
                </a:solidFill>
                <a:latin typeface="Aptos"/>
              </a:defRPr>
            </a:pPr>
            <a:r>
              <a:t>Build the pipeline and tests.</a:t>
            </a:r>
          </a:p>
          <a:p>
            <a:pPr>
              <a:spcAft>
                <a:spcPts val="600"/>
              </a:spcAft>
              <a:defRPr sz="1700" b="0">
                <a:solidFill>
                  <a:srgbClr val="153A2D"/>
                </a:solidFill>
                <a:latin typeface="Aptos"/>
              </a:defRPr>
            </a:pPr>
            <a:r>
              <a:t>Run checks; record real results.</a:t>
            </a:r>
          </a:p>
          <a:p>
            <a:pPr>
              <a:spcAft>
                <a:spcPts val="600"/>
              </a:spcAft>
              <a:defRPr sz="1700" b="0">
                <a:solidFill>
                  <a:srgbClr val="153A2D"/>
                </a:solidFill>
                <a:latin typeface="Aptos"/>
              </a:defRPr>
            </a:pPr>
            <a:r>
              <a:t>Review diffs against the plan.</a:t>
            </a:r>
          </a:p>
        </p:txBody>
      </p:sp>
      <p:sp>
        <p:nvSpPr>
          <p:cNvPr id="31" name="TextBox 30"/>
          <p:cNvSpPr txBox="1"/>
          <p:nvPr/>
        </p:nvSpPr>
        <p:spPr>
          <a:xfrm>
            <a:off x="8385048" y="4892040"/>
            <a:ext cx="3054096" cy="265176"/>
          </a:xfrm>
          <a:prstGeom prst="rect">
            <a:avLst/>
          </a:prstGeom>
          <a:noFill/>
        </p:spPr>
        <p:txBody>
          <a:bodyPr wrap="square" lIns="0" rIns="0" tIns="0" bIns="0">
            <a:spAutoFit/>
          </a:bodyPr>
          <a:lstStyle/>
          <a:p>
            <a:pPr>
              <a:spcAft>
                <a:spcPts val="600"/>
              </a:spcAft>
              <a:defRPr sz="1200" b="1">
                <a:solidFill>
                  <a:srgbClr val="526B60"/>
                </a:solidFill>
                <a:latin typeface="Aptos"/>
              </a:defRPr>
            </a:pPr>
            <a:r>
              <a:t>Output: changes + validation</a:t>
            </a:r>
          </a:p>
        </p:txBody>
      </p:sp>
      <p:sp>
        <p:nvSpPr>
          <p:cNvPr id="32" name="TextBox 31"/>
          <p:cNvSpPr txBox="1"/>
          <p:nvPr/>
        </p:nvSpPr>
        <p:spPr>
          <a:xfrm>
            <a:off x="8385048" y="5276088"/>
            <a:ext cx="3054096" cy="237744"/>
          </a:xfrm>
          <a:prstGeom prst="rect">
            <a:avLst/>
          </a:prstGeom>
          <a:noFill/>
        </p:spPr>
        <p:txBody>
          <a:bodyPr wrap="square" lIns="0" rIns="0" tIns="0" bIns="0">
            <a:spAutoFit/>
          </a:bodyPr>
          <a:lstStyle/>
          <a:p>
            <a:pPr>
              <a:spcAft>
                <a:spcPts val="600"/>
              </a:spcAft>
              <a:defRPr sz="1200" b="0">
                <a:solidFill>
                  <a:srgbClr val="00874E"/>
                </a:solidFill>
                <a:latin typeface="Consolas"/>
              </a:defRPr>
            </a:pPr>
            <a:r>
              <a:t>/rpi-implement</a:t>
            </a:r>
          </a:p>
        </p:txBody>
      </p:sp>
      <p:sp>
        <p:nvSpPr>
          <p:cNvPr id="33" name="Rounded Rectangle 32"/>
          <p:cNvSpPr/>
          <p:nvPr/>
        </p:nvSpPr>
        <p:spPr>
          <a:xfrm>
            <a:off x="548640" y="5760720"/>
            <a:ext cx="11100816" cy="448056"/>
          </a:xfrm>
          <a:prstGeom prst="roundRect">
            <a:avLst>
              <a:gd name="adj" fmla="val 12000"/>
            </a:avLst>
          </a:prstGeom>
          <a:solidFill>
            <a:srgbClr val="00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58952" y="5879592"/>
            <a:ext cx="10680192" cy="246888"/>
          </a:xfrm>
          <a:prstGeom prst="rect">
            <a:avLst/>
          </a:prstGeom>
          <a:noFill/>
        </p:spPr>
        <p:txBody>
          <a:bodyPr wrap="square" lIns="0" rIns="0" tIns="0" bIns="0">
            <a:spAutoFit/>
          </a:bodyPr>
          <a:lstStyle/>
          <a:p>
            <a:pPr>
              <a:spcAft>
                <a:spcPts val="600"/>
              </a:spcAft>
              <a:defRPr sz="1300" b="0">
                <a:solidFill>
                  <a:srgbClr val="FFFFFF"/>
                </a:solidFill>
                <a:latin typeface="Aptos"/>
              </a:defRPr>
            </a:pPr>
            <a:r>
              <a:t>Reuse adequate research  |  Review the plan  |  Validate results  |  Route gaps back to the right phase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AF7"/>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93192"/>
            <a:ext cx="10058400"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GITHUB COPILOT  /  VS CODE</a:t>
            </a:r>
          </a:p>
        </p:txBody>
      </p:sp>
      <p:sp>
        <p:nvSpPr>
          <p:cNvPr id="4" name="TextBox 3"/>
          <p:cNvSpPr txBox="1"/>
          <p:nvPr/>
        </p:nvSpPr>
        <p:spPr>
          <a:xfrm>
            <a:off x="530352" y="850392"/>
            <a:ext cx="11109960" cy="594360"/>
          </a:xfrm>
          <a:prstGeom prst="rect">
            <a:avLst/>
          </a:prstGeom>
          <a:noFill/>
        </p:spPr>
        <p:txBody>
          <a:bodyPr wrap="square" lIns="0" rIns="0" tIns="0" bIns="0">
            <a:spAutoFit/>
          </a:bodyPr>
          <a:lstStyle/>
          <a:p>
            <a:pPr>
              <a:spcAft>
                <a:spcPts val="600"/>
              </a:spcAft>
              <a:defRPr sz="3100" b="1">
                <a:solidFill>
                  <a:srgbClr val="153A2D"/>
                </a:solidFill>
                <a:latin typeface="Aptos"/>
              </a:defRPr>
            </a:pPr>
            <a:r>
              <a:t>Right-size the model to the uncertainty</a:t>
            </a:r>
          </a:p>
        </p:txBody>
      </p:sp>
      <p:sp>
        <p:nvSpPr>
          <p:cNvPr id="5" name="TextBox 4"/>
          <p:cNvSpPr txBox="1"/>
          <p:nvPr/>
        </p:nvSpPr>
        <p:spPr>
          <a:xfrm>
            <a:off x="548640" y="1508760"/>
            <a:ext cx="11018520" cy="548640"/>
          </a:xfrm>
          <a:prstGeom prst="rect">
            <a:avLst/>
          </a:prstGeom>
          <a:noFill/>
        </p:spPr>
        <p:txBody>
          <a:bodyPr wrap="square" lIns="0" rIns="0" tIns="0" bIns="0">
            <a:spAutoFit/>
          </a:bodyPr>
          <a:lstStyle/>
          <a:p>
            <a:pPr>
              <a:spcAft>
                <a:spcPts val="600"/>
              </a:spcAft>
              <a:defRPr sz="1700" b="0">
                <a:solidFill>
                  <a:srgbClr val="526B60"/>
                </a:solidFill>
                <a:latin typeface="Aptos"/>
              </a:defRPr>
            </a:pPr>
            <a:r>
              <a:t>Start with routing, or choose capability manually. Escalate when evidence says you should.</a:t>
            </a:r>
          </a:p>
        </p:txBody>
      </p:sp>
      <p:sp>
        <p:nvSpPr>
          <p:cNvPr id="6" name="TextBox 5"/>
          <p:cNvSpPr txBox="1"/>
          <p:nvPr/>
        </p:nvSpPr>
        <p:spPr>
          <a:xfrm>
            <a:off x="530352" y="6492240"/>
            <a:ext cx="8961120" cy="173736"/>
          </a:xfrm>
          <a:prstGeom prst="rect">
            <a:avLst/>
          </a:prstGeom>
          <a:noFill/>
        </p:spPr>
        <p:txBody>
          <a:bodyPr wrap="square" lIns="0" rIns="0" tIns="0" bIns="0">
            <a:spAutoFit/>
          </a:bodyPr>
          <a:lstStyle/>
          <a:p>
            <a:pPr>
              <a:spcAft>
                <a:spcPts val="600"/>
              </a:spcAft>
              <a:defRPr sz="800" b="0">
                <a:solidFill>
                  <a:srgbClr val="526B60"/>
                </a:solidFill>
                <a:latin typeface="Aptos"/>
              </a:defRPr>
            </a:pPr>
            <a:r>
              <a:t>DESJARDINS-INSPIRED  /  GITHUB COPILOT FOR DATA SCIENCE</a:t>
            </a:r>
          </a:p>
        </p:txBody>
      </p:sp>
      <p:sp>
        <p:nvSpPr>
          <p:cNvPr id="7" name="TextBox 6"/>
          <p:cNvSpPr txBox="1"/>
          <p:nvPr/>
        </p:nvSpPr>
        <p:spPr>
          <a:xfrm>
            <a:off x="9646920" y="6473952"/>
            <a:ext cx="1325880" cy="210312"/>
          </a:xfrm>
          <a:prstGeom prst="rect">
            <a:avLst/>
          </a:prstGeom>
          <a:noFill/>
        </p:spPr>
        <p:txBody>
          <a:bodyPr wrap="square" lIns="0" rIns="0" tIns="0" bIns="0">
            <a:spAutoFit/>
          </a:bodyPr>
          <a:lstStyle/>
          <a:p>
            <a:pPr>
              <a:spcAft>
                <a:spcPts val="600"/>
              </a:spcAft>
              <a:defRPr sz="900" b="0">
                <a:solidFill>
                  <a:srgbClr val="526B60"/>
                </a:solidFill>
                <a:latin typeface="Aptos"/>
              </a:defRPr>
            </a:pPr>
            <a:r>
              <a:rPr>
                <a:hlinkClick r:id="rId2"/>
              </a:rPr>
              <a:t>Source / reference</a:t>
            </a:r>
          </a:p>
        </p:txBody>
      </p:sp>
      <p:sp>
        <p:nvSpPr>
          <p:cNvPr id="8" name="TextBox 7"/>
          <p:cNvSpPr txBox="1"/>
          <p:nvPr/>
        </p:nvSpPr>
        <p:spPr>
          <a:xfrm>
            <a:off x="11082528" y="6455664"/>
            <a:ext cx="502920" cy="237744"/>
          </a:xfrm>
          <a:prstGeom prst="rect">
            <a:avLst/>
          </a:prstGeom>
          <a:noFill/>
        </p:spPr>
        <p:txBody>
          <a:bodyPr wrap="square" lIns="0" rIns="0" tIns="0" bIns="0">
            <a:spAutoFit/>
          </a:bodyPr>
          <a:lstStyle/>
          <a:p>
            <a:pPr>
              <a:spcAft>
                <a:spcPts val="600"/>
              </a:spcAft>
              <a:defRPr sz="900" b="1">
                <a:solidFill>
                  <a:srgbClr val="526B60"/>
                </a:solidFill>
                <a:latin typeface="Aptos"/>
              </a:defRPr>
            </a:pPr>
            <a:r>
              <a:t>04 / 05</a:t>
            </a:r>
          </a:p>
        </p:txBody>
      </p:sp>
      <p:sp>
        <p:nvSpPr>
          <p:cNvPr id="9" name="Rounded Rectangle 8"/>
          <p:cNvSpPr/>
          <p:nvPr/>
        </p:nvSpPr>
        <p:spPr>
          <a:xfrm>
            <a:off x="548640" y="2267712"/>
            <a:ext cx="3749039" cy="3520440"/>
          </a:xfrm>
          <a:prstGeom prst="roundRect">
            <a:avLst>
              <a:gd name="adj" fmla="val 12000"/>
            </a:avLst>
          </a:prstGeom>
          <a:solidFill>
            <a:srgbClr val="00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95528" y="2551176"/>
            <a:ext cx="3236976" cy="256032"/>
          </a:xfrm>
          <a:prstGeom prst="rect">
            <a:avLst/>
          </a:prstGeom>
          <a:noFill/>
        </p:spPr>
        <p:txBody>
          <a:bodyPr wrap="square" lIns="0" rIns="0" tIns="0" bIns="0">
            <a:spAutoFit/>
          </a:bodyPr>
          <a:lstStyle/>
          <a:p>
            <a:pPr>
              <a:spcAft>
                <a:spcPts val="600"/>
              </a:spcAft>
              <a:defRPr sz="1100" b="1">
                <a:solidFill>
                  <a:srgbClr val="C1E88A"/>
                </a:solidFill>
                <a:latin typeface="Aptos"/>
              </a:defRPr>
            </a:pPr>
            <a:r>
              <a:t>AUTOMATIC ROUTING</a:t>
            </a:r>
          </a:p>
        </p:txBody>
      </p:sp>
      <p:sp>
        <p:nvSpPr>
          <p:cNvPr id="11" name="TextBox 10"/>
          <p:cNvSpPr txBox="1"/>
          <p:nvPr/>
        </p:nvSpPr>
        <p:spPr>
          <a:xfrm>
            <a:off x="795528" y="2971800"/>
            <a:ext cx="3246120" cy="475488"/>
          </a:xfrm>
          <a:prstGeom prst="rect">
            <a:avLst/>
          </a:prstGeom>
          <a:noFill/>
        </p:spPr>
        <p:txBody>
          <a:bodyPr wrap="square" lIns="0" rIns="0" tIns="0" bIns="0">
            <a:spAutoFit/>
          </a:bodyPr>
          <a:lstStyle/>
          <a:p>
            <a:pPr>
              <a:spcAft>
                <a:spcPts val="600"/>
              </a:spcAft>
              <a:defRPr sz="2500" b="1">
                <a:solidFill>
                  <a:srgbClr val="FFFFFF"/>
                </a:solidFill>
                <a:latin typeface="Aptos"/>
              </a:defRPr>
            </a:pPr>
            <a:r>
              <a:t>Auto / Hydrafusion*</a:t>
            </a:r>
          </a:p>
        </p:txBody>
      </p:sp>
      <p:sp>
        <p:nvSpPr>
          <p:cNvPr id="12" name="TextBox 11"/>
          <p:cNvSpPr txBox="1"/>
          <p:nvPr/>
        </p:nvSpPr>
        <p:spPr>
          <a:xfrm>
            <a:off x="795528" y="3685032"/>
            <a:ext cx="3182112" cy="923544"/>
          </a:xfrm>
          <a:prstGeom prst="rect">
            <a:avLst/>
          </a:prstGeom>
          <a:noFill/>
        </p:spPr>
        <p:txBody>
          <a:bodyPr wrap="square" lIns="0" rIns="0" tIns="0" bIns="0">
            <a:spAutoFit/>
          </a:bodyPr>
          <a:lstStyle/>
          <a:p>
            <a:pPr>
              <a:spcAft>
                <a:spcPts val="600"/>
              </a:spcAft>
              <a:defRPr sz="2000" b="0">
                <a:solidFill>
                  <a:srgbClr val="FFFFFF"/>
                </a:solidFill>
                <a:latin typeface="Aptos"/>
              </a:defRPr>
            </a:pPr>
            <a:r>
              <a:t>Let the available router balance</a:t>
            </a:r>
          </a:p>
          <a:p>
            <a:pPr>
              <a:spcAft>
                <a:spcPts val="600"/>
              </a:spcAft>
              <a:defRPr sz="2000" b="0">
                <a:solidFill>
                  <a:srgbClr val="FFFFFF"/>
                </a:solidFill>
                <a:latin typeface="Aptos"/>
              </a:defRPr>
            </a:pPr>
            <a:r>
              <a:t>capability, latency and cost.</a:t>
            </a:r>
          </a:p>
        </p:txBody>
      </p:sp>
      <p:sp>
        <p:nvSpPr>
          <p:cNvPr id="13" name="TextBox 12"/>
          <p:cNvSpPr txBox="1"/>
          <p:nvPr/>
        </p:nvSpPr>
        <p:spPr>
          <a:xfrm>
            <a:off x="795528" y="4846320"/>
            <a:ext cx="3182112" cy="594360"/>
          </a:xfrm>
          <a:prstGeom prst="rect">
            <a:avLst/>
          </a:prstGeom>
          <a:noFill/>
        </p:spPr>
        <p:txBody>
          <a:bodyPr wrap="square" lIns="0" rIns="0" tIns="0" bIns="0">
            <a:spAutoFit/>
          </a:bodyPr>
          <a:lstStyle/>
          <a:p>
            <a:pPr>
              <a:spcAft>
                <a:spcPts val="600"/>
              </a:spcAft>
              <a:defRPr sz="1400" b="0">
                <a:solidFill>
                  <a:srgbClr val="D6EBDD"/>
                </a:solidFill>
                <a:latin typeface="Aptos"/>
              </a:defRPr>
            </a:pPr>
            <a:r>
              <a:t>Use approved options only.</a:t>
            </a:r>
          </a:p>
          <a:p>
            <a:pPr>
              <a:spcAft>
                <a:spcPts val="600"/>
              </a:spcAft>
              <a:defRPr sz="1400" b="0">
                <a:solidFill>
                  <a:srgbClr val="D6EBDD"/>
                </a:solidFill>
                <a:latin typeface="Aptos"/>
              </a:defRPr>
            </a:pPr>
            <a:r>
              <a:t>Check the picker and admin policy.</a:t>
            </a:r>
          </a:p>
        </p:txBody>
      </p:sp>
      <p:sp>
        <p:nvSpPr>
          <p:cNvPr id="14" name="TextBox 13"/>
          <p:cNvSpPr txBox="1"/>
          <p:nvPr/>
        </p:nvSpPr>
        <p:spPr>
          <a:xfrm>
            <a:off x="4617720" y="2331720"/>
            <a:ext cx="6766560"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MANUAL CAPABILITY CHOICE</a:t>
            </a:r>
          </a:p>
        </p:txBody>
      </p:sp>
      <p:sp>
        <p:nvSpPr>
          <p:cNvPr id="15" name="Rounded Rectangle 14"/>
          <p:cNvSpPr/>
          <p:nvPr/>
        </p:nvSpPr>
        <p:spPr>
          <a:xfrm>
            <a:off x="4608576" y="2761488"/>
            <a:ext cx="7031736" cy="914400"/>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00600" y="2944368"/>
            <a:ext cx="1563624" cy="576072"/>
          </a:xfrm>
          <a:prstGeom prst="rect">
            <a:avLst/>
          </a:prstGeom>
          <a:noFill/>
        </p:spPr>
        <p:txBody>
          <a:bodyPr wrap="square" lIns="0" rIns="0" tIns="0" bIns="0">
            <a:spAutoFit/>
          </a:bodyPr>
          <a:lstStyle/>
          <a:p>
            <a:pPr>
              <a:spcAft>
                <a:spcPts val="600"/>
              </a:spcAft>
              <a:defRPr sz="1200" b="1">
                <a:solidFill>
                  <a:srgbClr val="00874E"/>
                </a:solidFill>
                <a:latin typeface="Aptos"/>
              </a:defRPr>
            </a:pPr>
            <a:r>
              <a:t>LARGE</a:t>
            </a:r>
          </a:p>
        </p:txBody>
      </p:sp>
      <p:sp>
        <p:nvSpPr>
          <p:cNvPr id="17" name="TextBox 16"/>
          <p:cNvSpPr txBox="1"/>
          <p:nvPr/>
        </p:nvSpPr>
        <p:spPr>
          <a:xfrm>
            <a:off x="6510528" y="2852928"/>
            <a:ext cx="4846320" cy="292608"/>
          </a:xfrm>
          <a:prstGeom prst="rect">
            <a:avLst/>
          </a:prstGeom>
          <a:noFill/>
        </p:spPr>
        <p:txBody>
          <a:bodyPr wrap="square" lIns="0" rIns="0" tIns="0" bIns="0">
            <a:spAutoFit/>
          </a:bodyPr>
          <a:lstStyle/>
          <a:p>
            <a:pPr>
              <a:spcAft>
                <a:spcPts val="600"/>
              </a:spcAft>
              <a:defRPr sz="1800" b="1">
                <a:solidFill>
                  <a:srgbClr val="153A2D"/>
                </a:solidFill>
                <a:latin typeface="Aptos"/>
              </a:defRPr>
            </a:pPr>
            <a:r>
              <a:t>Research + rubber ducking</a:t>
            </a:r>
          </a:p>
        </p:txBody>
      </p:sp>
      <p:sp>
        <p:nvSpPr>
          <p:cNvPr id="18" name="TextBox 17"/>
          <p:cNvSpPr txBox="1"/>
          <p:nvPr/>
        </p:nvSpPr>
        <p:spPr>
          <a:xfrm>
            <a:off x="6510528" y="3200400"/>
            <a:ext cx="4846320" cy="438912"/>
          </a:xfrm>
          <a:prstGeom prst="rect">
            <a:avLst/>
          </a:prstGeom>
          <a:noFill/>
        </p:spPr>
        <p:txBody>
          <a:bodyPr wrap="square" lIns="0" rIns="0" tIns="0" bIns="0">
            <a:spAutoFit/>
          </a:bodyPr>
          <a:lstStyle/>
          <a:p>
            <a:pPr>
              <a:spcAft>
                <a:spcPts val="600"/>
              </a:spcAft>
              <a:defRPr sz="1200" b="0">
                <a:solidFill>
                  <a:srgbClr val="526B60"/>
                </a:solidFill>
                <a:latin typeface="Aptos"/>
              </a:defRPr>
            </a:pPr>
            <a:r>
              <a:t>Challenge assumptions, compare approaches,</a:t>
            </a:r>
          </a:p>
          <a:p>
            <a:pPr>
              <a:spcAft>
                <a:spcPts val="600"/>
              </a:spcAft>
              <a:defRPr sz="1200" b="0">
                <a:solidFill>
                  <a:srgbClr val="526B60"/>
                </a:solidFill>
                <a:latin typeface="Aptos"/>
              </a:defRPr>
            </a:pPr>
            <a:r>
              <a:t>look for leakage and counterexamples.</a:t>
            </a:r>
          </a:p>
        </p:txBody>
      </p:sp>
      <p:sp>
        <p:nvSpPr>
          <p:cNvPr id="19" name="Rounded Rectangle 18"/>
          <p:cNvSpPr/>
          <p:nvPr/>
        </p:nvSpPr>
        <p:spPr>
          <a:xfrm>
            <a:off x="4608576" y="3776472"/>
            <a:ext cx="7031736" cy="914400"/>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00600" y="3959352"/>
            <a:ext cx="1563624" cy="576072"/>
          </a:xfrm>
          <a:prstGeom prst="rect">
            <a:avLst/>
          </a:prstGeom>
          <a:noFill/>
        </p:spPr>
        <p:txBody>
          <a:bodyPr wrap="square" lIns="0" rIns="0" tIns="0" bIns="0">
            <a:spAutoFit/>
          </a:bodyPr>
          <a:lstStyle/>
          <a:p>
            <a:pPr>
              <a:spcAft>
                <a:spcPts val="600"/>
              </a:spcAft>
              <a:defRPr sz="1200" b="1">
                <a:solidFill>
                  <a:srgbClr val="00874E"/>
                </a:solidFill>
                <a:latin typeface="Aptos"/>
              </a:defRPr>
            </a:pPr>
            <a:r>
              <a:t>MEDIUM</a:t>
            </a:r>
          </a:p>
        </p:txBody>
      </p:sp>
      <p:sp>
        <p:nvSpPr>
          <p:cNvPr id="21" name="TextBox 20"/>
          <p:cNvSpPr txBox="1"/>
          <p:nvPr/>
        </p:nvSpPr>
        <p:spPr>
          <a:xfrm>
            <a:off x="6510528" y="3867911"/>
            <a:ext cx="4846320" cy="292608"/>
          </a:xfrm>
          <a:prstGeom prst="rect">
            <a:avLst/>
          </a:prstGeom>
          <a:noFill/>
        </p:spPr>
        <p:txBody>
          <a:bodyPr wrap="square" lIns="0" rIns="0" tIns="0" bIns="0">
            <a:spAutoFit/>
          </a:bodyPr>
          <a:lstStyle/>
          <a:p>
            <a:pPr>
              <a:spcAft>
                <a:spcPts val="600"/>
              </a:spcAft>
              <a:defRPr sz="1800" b="1">
                <a:solidFill>
                  <a:srgbClr val="153A2D"/>
                </a:solidFill>
                <a:latin typeface="Aptos"/>
              </a:defRPr>
            </a:pPr>
            <a:r>
              <a:t>Planning</a:t>
            </a:r>
          </a:p>
        </p:txBody>
      </p:sp>
      <p:sp>
        <p:nvSpPr>
          <p:cNvPr id="22" name="TextBox 21"/>
          <p:cNvSpPr txBox="1"/>
          <p:nvPr/>
        </p:nvSpPr>
        <p:spPr>
          <a:xfrm>
            <a:off x="6510528" y="4215383"/>
            <a:ext cx="4846320" cy="438912"/>
          </a:xfrm>
          <a:prstGeom prst="rect">
            <a:avLst/>
          </a:prstGeom>
          <a:noFill/>
        </p:spPr>
        <p:txBody>
          <a:bodyPr wrap="square" lIns="0" rIns="0" tIns="0" bIns="0">
            <a:spAutoFit/>
          </a:bodyPr>
          <a:lstStyle/>
          <a:p>
            <a:pPr>
              <a:spcAft>
                <a:spcPts val="600"/>
              </a:spcAft>
              <a:defRPr sz="1200" b="0">
                <a:solidFill>
                  <a:srgbClr val="526B60"/>
                </a:solidFill>
                <a:latin typeface="Aptos"/>
              </a:defRPr>
            </a:pPr>
            <a:r>
              <a:t>Turn evidence into tasks, dependencies</a:t>
            </a:r>
          </a:p>
          <a:p>
            <a:pPr>
              <a:spcAft>
                <a:spcPts val="600"/>
              </a:spcAft>
              <a:defRPr sz="1200" b="0">
                <a:solidFill>
                  <a:srgbClr val="526B60"/>
                </a:solidFill>
                <a:latin typeface="Aptos"/>
              </a:defRPr>
            </a:pPr>
            <a:r>
              <a:t>and measurable acceptance criteria.</a:t>
            </a:r>
          </a:p>
        </p:txBody>
      </p:sp>
      <p:sp>
        <p:nvSpPr>
          <p:cNvPr id="23" name="Rounded Rectangle 22"/>
          <p:cNvSpPr/>
          <p:nvPr/>
        </p:nvSpPr>
        <p:spPr>
          <a:xfrm>
            <a:off x="4608576" y="4791456"/>
            <a:ext cx="7031736" cy="914400"/>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00600" y="4974336"/>
            <a:ext cx="1563624" cy="576072"/>
          </a:xfrm>
          <a:prstGeom prst="rect">
            <a:avLst/>
          </a:prstGeom>
          <a:noFill/>
        </p:spPr>
        <p:txBody>
          <a:bodyPr wrap="square" lIns="0" rIns="0" tIns="0" bIns="0">
            <a:spAutoFit/>
          </a:bodyPr>
          <a:lstStyle/>
          <a:p>
            <a:pPr>
              <a:spcAft>
                <a:spcPts val="600"/>
              </a:spcAft>
              <a:defRPr sz="1200" b="1">
                <a:solidFill>
                  <a:srgbClr val="00874E"/>
                </a:solidFill>
                <a:latin typeface="Aptos"/>
              </a:defRPr>
            </a:pPr>
            <a:r>
              <a:t>SMALL / MEDIUM</a:t>
            </a:r>
          </a:p>
        </p:txBody>
      </p:sp>
      <p:sp>
        <p:nvSpPr>
          <p:cNvPr id="25" name="TextBox 24"/>
          <p:cNvSpPr txBox="1"/>
          <p:nvPr/>
        </p:nvSpPr>
        <p:spPr>
          <a:xfrm>
            <a:off x="6510528" y="4882896"/>
            <a:ext cx="4846320" cy="292608"/>
          </a:xfrm>
          <a:prstGeom prst="rect">
            <a:avLst/>
          </a:prstGeom>
          <a:noFill/>
        </p:spPr>
        <p:txBody>
          <a:bodyPr wrap="square" lIns="0" rIns="0" tIns="0" bIns="0">
            <a:spAutoFit/>
          </a:bodyPr>
          <a:lstStyle/>
          <a:p>
            <a:pPr>
              <a:spcAft>
                <a:spcPts val="600"/>
              </a:spcAft>
              <a:defRPr sz="1800" b="1">
                <a:solidFill>
                  <a:srgbClr val="153A2D"/>
                </a:solidFill>
                <a:latin typeface="Aptos"/>
              </a:defRPr>
            </a:pPr>
            <a:r>
              <a:t>Implementation</a:t>
            </a:r>
          </a:p>
        </p:txBody>
      </p:sp>
      <p:sp>
        <p:nvSpPr>
          <p:cNvPr id="26" name="TextBox 25"/>
          <p:cNvSpPr txBox="1"/>
          <p:nvPr/>
        </p:nvSpPr>
        <p:spPr>
          <a:xfrm>
            <a:off x="6510528" y="5230368"/>
            <a:ext cx="4846320" cy="438912"/>
          </a:xfrm>
          <a:prstGeom prst="rect">
            <a:avLst/>
          </a:prstGeom>
          <a:noFill/>
        </p:spPr>
        <p:txBody>
          <a:bodyPr wrap="square" lIns="0" rIns="0" tIns="0" bIns="0">
            <a:spAutoFit/>
          </a:bodyPr>
          <a:lstStyle/>
          <a:p>
            <a:pPr>
              <a:spcAft>
                <a:spcPts val="600"/>
              </a:spcAft>
              <a:defRPr sz="1200" b="0">
                <a:solidFill>
                  <a:srgbClr val="526B60"/>
                </a:solidFill>
                <a:latin typeface="Aptos"/>
              </a:defRPr>
            </a:pPr>
            <a:r>
              <a:t>Small for routine edits; medium for complex changes.</a:t>
            </a:r>
          </a:p>
          <a:p>
            <a:pPr>
              <a:spcAft>
                <a:spcPts val="600"/>
              </a:spcAft>
              <a:defRPr sz="1200" b="0">
                <a:solidFill>
                  <a:srgbClr val="526B60"/>
                </a:solidFill>
                <a:latin typeface="Aptos"/>
              </a:defRPr>
            </a:pPr>
            <a:r>
              <a:t>Escalate if failures or ambiguity persist.</a:t>
            </a:r>
          </a:p>
        </p:txBody>
      </p:sp>
      <p:sp>
        <p:nvSpPr>
          <p:cNvPr id="27" name="TextBox 26"/>
          <p:cNvSpPr txBox="1"/>
          <p:nvPr/>
        </p:nvSpPr>
        <p:spPr>
          <a:xfrm>
            <a:off x="566928" y="5971032"/>
            <a:ext cx="10972800" cy="310896"/>
          </a:xfrm>
          <a:prstGeom prst="rect">
            <a:avLst/>
          </a:prstGeom>
          <a:noFill/>
        </p:spPr>
        <p:txBody>
          <a:bodyPr wrap="square" lIns="0" rIns="0" tIns="0" bIns="0">
            <a:spAutoFit/>
          </a:bodyPr>
          <a:lstStyle/>
          <a:p>
            <a:pPr>
              <a:spcAft>
                <a:spcPts val="600"/>
              </a:spcAft>
              <a:defRPr sz="1100" b="0">
                <a:solidFill>
                  <a:srgbClr val="526B60"/>
                </a:solidFill>
                <a:latin typeface="Aptos"/>
              </a:defRPr>
            </a:pPr>
            <a:r>
              <a:t>*Hydrafusion is setup-dependent, not a universal Copilot option. Tiers above are a practical heuristic, not product labels.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AF7"/>
        </a:solidFill>
        <a:effectLst/>
      </p:bgPr>
    </p:bg>
    <p:spTree>
      <p:nvGrpSpPr>
        <p:cNvPr id="1" name=""/>
        <p:cNvGrpSpPr/>
        <p:nvPr/>
      </p:nvGrpSpPr>
      <p:grpSpPr/>
      <p:sp>
        <p:nvSpPr>
          <p:cNvPr id="2" name="Rectangle 1"/>
          <p:cNvSpPr/>
          <p:nvPr/>
        </p:nvSpPr>
        <p:spPr>
          <a:xfrm>
            <a:off x="0" y="0"/>
            <a:ext cx="12191999" cy="82296"/>
          </a:xfrm>
          <a:prstGeom prst="rect">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30352" y="393192"/>
            <a:ext cx="10058400"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GITHUB COPILOT  /  VS CODE</a:t>
            </a:r>
          </a:p>
        </p:txBody>
      </p:sp>
      <p:sp>
        <p:nvSpPr>
          <p:cNvPr id="4" name="TextBox 3"/>
          <p:cNvSpPr txBox="1"/>
          <p:nvPr/>
        </p:nvSpPr>
        <p:spPr>
          <a:xfrm>
            <a:off x="530352" y="850392"/>
            <a:ext cx="11109960" cy="594360"/>
          </a:xfrm>
          <a:prstGeom prst="rect">
            <a:avLst/>
          </a:prstGeom>
          <a:noFill/>
        </p:spPr>
        <p:txBody>
          <a:bodyPr wrap="square" lIns="0" rIns="0" tIns="0" bIns="0">
            <a:spAutoFit/>
          </a:bodyPr>
          <a:lstStyle/>
          <a:p>
            <a:pPr>
              <a:spcAft>
                <a:spcPts val="600"/>
              </a:spcAft>
              <a:defRPr sz="3100" b="1">
                <a:solidFill>
                  <a:srgbClr val="153A2D"/>
                </a:solidFill>
                <a:latin typeface="Aptos"/>
              </a:defRPr>
            </a:pPr>
            <a:r>
              <a:t>Try it: a reproducible credit-risk baseline</a:t>
            </a:r>
          </a:p>
        </p:txBody>
      </p:sp>
      <p:sp>
        <p:nvSpPr>
          <p:cNvPr id="5" name="TextBox 4"/>
          <p:cNvSpPr txBox="1"/>
          <p:nvPr/>
        </p:nvSpPr>
        <p:spPr>
          <a:xfrm>
            <a:off x="548640" y="1508760"/>
            <a:ext cx="11018520" cy="548640"/>
          </a:xfrm>
          <a:prstGeom prst="rect">
            <a:avLst/>
          </a:prstGeom>
          <a:noFill/>
        </p:spPr>
        <p:txBody>
          <a:bodyPr wrap="square" lIns="0" rIns="0" tIns="0" bIns="0">
            <a:spAutoFit/>
          </a:bodyPr>
          <a:lstStyle/>
          <a:p>
            <a:pPr>
              <a:spcAft>
                <a:spcPts val="600"/>
              </a:spcAft>
              <a:defRPr sz="1700" b="0">
                <a:solidFill>
                  <a:srgbClr val="526B60"/>
                </a:solidFill>
                <a:latin typeface="Aptos"/>
              </a:defRPr>
            </a:pPr>
            <a:r>
              <a:t>One synthetic dataset. One clear objective. Three bounded prompts.</a:t>
            </a:r>
          </a:p>
        </p:txBody>
      </p:sp>
      <p:sp>
        <p:nvSpPr>
          <p:cNvPr id="6" name="TextBox 5"/>
          <p:cNvSpPr txBox="1"/>
          <p:nvPr/>
        </p:nvSpPr>
        <p:spPr>
          <a:xfrm>
            <a:off x="530352" y="6492240"/>
            <a:ext cx="8961120" cy="173736"/>
          </a:xfrm>
          <a:prstGeom prst="rect">
            <a:avLst/>
          </a:prstGeom>
          <a:noFill/>
        </p:spPr>
        <p:txBody>
          <a:bodyPr wrap="square" lIns="0" rIns="0" tIns="0" bIns="0">
            <a:spAutoFit/>
          </a:bodyPr>
          <a:lstStyle/>
          <a:p>
            <a:pPr>
              <a:spcAft>
                <a:spcPts val="600"/>
              </a:spcAft>
              <a:defRPr sz="800" b="0">
                <a:solidFill>
                  <a:srgbClr val="526B60"/>
                </a:solidFill>
                <a:latin typeface="Aptos"/>
              </a:defRPr>
            </a:pPr>
            <a:r>
              <a:t>DESJARDINS-INSPIRED  /  GITHUB COPILOT FOR DATA SCIENCE</a:t>
            </a:r>
          </a:p>
        </p:txBody>
      </p:sp>
      <p:sp>
        <p:nvSpPr>
          <p:cNvPr id="7" name="TextBox 6"/>
          <p:cNvSpPr txBox="1"/>
          <p:nvPr/>
        </p:nvSpPr>
        <p:spPr>
          <a:xfrm>
            <a:off x="9646920" y="6473952"/>
            <a:ext cx="1325880" cy="210312"/>
          </a:xfrm>
          <a:prstGeom prst="rect">
            <a:avLst/>
          </a:prstGeom>
          <a:noFill/>
        </p:spPr>
        <p:txBody>
          <a:bodyPr wrap="square" lIns="0" rIns="0" tIns="0" bIns="0">
            <a:spAutoFit/>
          </a:bodyPr>
          <a:lstStyle/>
          <a:p>
            <a:pPr>
              <a:spcAft>
                <a:spcPts val="600"/>
              </a:spcAft>
              <a:defRPr sz="900" b="0">
                <a:solidFill>
                  <a:srgbClr val="526B60"/>
                </a:solidFill>
                <a:latin typeface="Aptos"/>
              </a:defRPr>
            </a:pPr>
            <a:r>
              <a:rPr>
                <a:hlinkClick r:id="rId2"/>
              </a:rPr>
              <a:t>Source / reference</a:t>
            </a:r>
          </a:p>
        </p:txBody>
      </p:sp>
      <p:sp>
        <p:nvSpPr>
          <p:cNvPr id="8" name="TextBox 7"/>
          <p:cNvSpPr txBox="1"/>
          <p:nvPr/>
        </p:nvSpPr>
        <p:spPr>
          <a:xfrm>
            <a:off x="11082528" y="6455664"/>
            <a:ext cx="502920" cy="237744"/>
          </a:xfrm>
          <a:prstGeom prst="rect">
            <a:avLst/>
          </a:prstGeom>
          <a:noFill/>
        </p:spPr>
        <p:txBody>
          <a:bodyPr wrap="square" lIns="0" rIns="0" tIns="0" bIns="0">
            <a:spAutoFit/>
          </a:bodyPr>
          <a:lstStyle/>
          <a:p>
            <a:pPr>
              <a:spcAft>
                <a:spcPts val="600"/>
              </a:spcAft>
              <a:defRPr sz="900" b="1">
                <a:solidFill>
                  <a:srgbClr val="526B60"/>
                </a:solidFill>
                <a:latin typeface="Aptos"/>
              </a:defRPr>
            </a:pPr>
            <a:r>
              <a:t>05 / 05</a:t>
            </a:r>
          </a:p>
        </p:txBody>
      </p:sp>
      <p:sp>
        <p:nvSpPr>
          <p:cNvPr id="9" name="Rounded Rectangle 8"/>
          <p:cNvSpPr/>
          <p:nvPr/>
        </p:nvSpPr>
        <p:spPr>
          <a:xfrm>
            <a:off x="548640" y="2258568"/>
            <a:ext cx="7333488" cy="923544"/>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740664" y="2441448"/>
            <a:ext cx="484632" cy="484632"/>
          </a:xfrm>
          <a:prstGeom prst="roundRect">
            <a:avLst>
              <a:gd name="adj" fmla="val 12000"/>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3816" y="2551176"/>
            <a:ext cx="365760" cy="219456"/>
          </a:xfrm>
          <a:prstGeom prst="rect">
            <a:avLst/>
          </a:prstGeom>
          <a:noFill/>
        </p:spPr>
        <p:txBody>
          <a:bodyPr wrap="square" lIns="0" rIns="0" tIns="0" bIns="0">
            <a:spAutoFit/>
          </a:bodyPr>
          <a:lstStyle/>
          <a:p>
            <a:pPr>
              <a:spcAft>
                <a:spcPts val="600"/>
              </a:spcAft>
              <a:defRPr sz="1300" b="1">
                <a:solidFill>
                  <a:srgbClr val="FFFFFF"/>
                </a:solidFill>
                <a:latin typeface="Aptos"/>
              </a:defRPr>
            </a:pPr>
            <a:r>
              <a:t>01</a:t>
            </a:r>
          </a:p>
        </p:txBody>
      </p:sp>
      <p:sp>
        <p:nvSpPr>
          <p:cNvPr id="12" name="TextBox 11"/>
          <p:cNvSpPr txBox="1"/>
          <p:nvPr/>
        </p:nvSpPr>
        <p:spPr>
          <a:xfrm>
            <a:off x="1408176" y="2359152"/>
            <a:ext cx="6126480"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RESEARCH / ASK</a:t>
            </a:r>
          </a:p>
        </p:txBody>
      </p:sp>
      <p:sp>
        <p:nvSpPr>
          <p:cNvPr id="13" name="TextBox 12"/>
          <p:cNvSpPr txBox="1"/>
          <p:nvPr/>
        </p:nvSpPr>
        <p:spPr>
          <a:xfrm>
            <a:off x="1408176" y="2624328"/>
            <a:ext cx="6190488" cy="512064"/>
          </a:xfrm>
          <a:prstGeom prst="rect">
            <a:avLst/>
          </a:prstGeom>
          <a:noFill/>
        </p:spPr>
        <p:txBody>
          <a:bodyPr wrap="square" lIns="0" rIns="0" tIns="0" bIns="0">
            <a:spAutoFit/>
          </a:bodyPr>
          <a:lstStyle/>
          <a:p>
            <a:pPr>
              <a:spcAft>
                <a:spcPts val="600"/>
              </a:spcAft>
              <a:defRPr sz="1300" b="0">
                <a:solidFill>
                  <a:srgbClr val="153A2D"/>
                </a:solidFill>
                <a:latin typeface="Aptos"/>
              </a:defRPr>
            </a:pPr>
            <a:r>
              <a:t>"Inspect this synthetic dataset and notebook.</a:t>
            </a:r>
          </a:p>
          <a:p>
            <a:pPr>
              <a:spcAft>
                <a:spcPts val="600"/>
              </a:spcAft>
              <a:defRPr sz="1300" b="0">
                <a:solidFill>
                  <a:srgbClr val="153A2D"/>
                </a:solidFill>
                <a:latin typeface="Aptos"/>
              </a:defRPr>
            </a:pPr>
            <a:r>
              <a:t>Identify leakage risks and compare validation splits.</a:t>
            </a:r>
          </a:p>
          <a:p>
            <a:pPr>
              <a:spcAft>
                <a:spcPts val="600"/>
              </a:spcAft>
              <a:defRPr sz="1300" b="0">
                <a:solidFill>
                  <a:srgbClr val="153A2D"/>
                </a:solidFill>
                <a:latin typeface="Aptos"/>
              </a:defRPr>
            </a:pPr>
            <a:r>
              <a:t>Do not edit files yet."</a:t>
            </a:r>
          </a:p>
        </p:txBody>
      </p:sp>
      <p:sp>
        <p:nvSpPr>
          <p:cNvPr id="14" name="Rounded Rectangle 13"/>
          <p:cNvSpPr/>
          <p:nvPr/>
        </p:nvSpPr>
        <p:spPr>
          <a:xfrm>
            <a:off x="548640" y="3319272"/>
            <a:ext cx="7333488" cy="923544"/>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40664" y="3502152"/>
            <a:ext cx="484632" cy="484632"/>
          </a:xfrm>
          <a:prstGeom prst="roundRect">
            <a:avLst>
              <a:gd name="adj" fmla="val 12000"/>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13816" y="3611879"/>
            <a:ext cx="365760" cy="219456"/>
          </a:xfrm>
          <a:prstGeom prst="rect">
            <a:avLst/>
          </a:prstGeom>
          <a:noFill/>
        </p:spPr>
        <p:txBody>
          <a:bodyPr wrap="square" lIns="0" rIns="0" tIns="0" bIns="0">
            <a:spAutoFit/>
          </a:bodyPr>
          <a:lstStyle/>
          <a:p>
            <a:pPr>
              <a:spcAft>
                <a:spcPts val="600"/>
              </a:spcAft>
              <a:defRPr sz="1300" b="1">
                <a:solidFill>
                  <a:srgbClr val="FFFFFF"/>
                </a:solidFill>
                <a:latin typeface="Aptos"/>
              </a:defRPr>
            </a:pPr>
            <a:r>
              <a:t>02</a:t>
            </a:r>
          </a:p>
        </p:txBody>
      </p:sp>
      <p:sp>
        <p:nvSpPr>
          <p:cNvPr id="17" name="TextBox 16"/>
          <p:cNvSpPr txBox="1"/>
          <p:nvPr/>
        </p:nvSpPr>
        <p:spPr>
          <a:xfrm>
            <a:off x="1408176" y="3419856"/>
            <a:ext cx="6126480"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PLAN / HVE RPI</a:t>
            </a:r>
          </a:p>
        </p:txBody>
      </p:sp>
      <p:sp>
        <p:nvSpPr>
          <p:cNvPr id="18" name="TextBox 17"/>
          <p:cNvSpPr txBox="1"/>
          <p:nvPr/>
        </p:nvSpPr>
        <p:spPr>
          <a:xfrm>
            <a:off x="1408176" y="3685032"/>
            <a:ext cx="6190488" cy="512064"/>
          </a:xfrm>
          <a:prstGeom prst="rect">
            <a:avLst/>
          </a:prstGeom>
          <a:noFill/>
        </p:spPr>
        <p:txBody>
          <a:bodyPr wrap="square" lIns="0" rIns="0" tIns="0" bIns="0">
            <a:spAutoFit/>
          </a:bodyPr>
          <a:lstStyle/>
          <a:p>
            <a:pPr>
              <a:spcAft>
                <a:spcPts val="600"/>
              </a:spcAft>
              <a:defRPr sz="1300" b="0">
                <a:solidFill>
                  <a:srgbClr val="153A2D"/>
                </a:solidFill>
                <a:latin typeface="Aptos"/>
              </a:defRPr>
            </a:pPr>
            <a:r>
              <a:t>"Plan a reproducible baseline with a time-based split.</a:t>
            </a:r>
          </a:p>
          <a:p>
            <a:pPr>
              <a:spcAft>
                <a:spcPts val="600"/>
              </a:spcAft>
              <a:defRPr sz="1300" b="0">
                <a:solidFill>
                  <a:srgbClr val="153A2D"/>
                </a:solidFill>
                <a:latin typeface="Aptos"/>
              </a:defRPr>
            </a:pPr>
            <a:r>
              <a:t>Fit preprocessing on training data only.</a:t>
            </a:r>
          </a:p>
          <a:p>
            <a:pPr>
              <a:spcAft>
                <a:spcPts val="600"/>
              </a:spcAft>
              <a:defRPr sz="1300" b="0">
                <a:solidFill>
                  <a:srgbClr val="153A2D"/>
                </a:solidFill>
                <a:latin typeface="Aptos"/>
              </a:defRPr>
            </a:pPr>
            <a:r>
              <a:t>Define metrics and tests before coding."</a:t>
            </a:r>
          </a:p>
        </p:txBody>
      </p:sp>
      <p:sp>
        <p:nvSpPr>
          <p:cNvPr id="19" name="Rounded Rectangle 18"/>
          <p:cNvSpPr/>
          <p:nvPr/>
        </p:nvSpPr>
        <p:spPr>
          <a:xfrm>
            <a:off x="548640" y="4379976"/>
            <a:ext cx="7333488" cy="923544"/>
          </a:xfrm>
          <a:prstGeom prst="roundRect">
            <a:avLst>
              <a:gd name="adj" fmla="val 12000"/>
            </a:avLst>
          </a:prstGeom>
          <a:solidFill>
            <a:srgbClr val="FFFFFF"/>
          </a:solidFill>
          <a:ln>
            <a:solidFill>
              <a:srgbClr val="D4E4D9"/>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40664" y="4562856"/>
            <a:ext cx="484632" cy="484632"/>
          </a:xfrm>
          <a:prstGeom prst="roundRect">
            <a:avLst>
              <a:gd name="adj" fmla="val 12000"/>
            </a:avLst>
          </a:prstGeom>
          <a:solidFill>
            <a:srgbClr val="00874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 y="4672584"/>
            <a:ext cx="365760" cy="219456"/>
          </a:xfrm>
          <a:prstGeom prst="rect">
            <a:avLst/>
          </a:prstGeom>
          <a:noFill/>
        </p:spPr>
        <p:txBody>
          <a:bodyPr wrap="square" lIns="0" rIns="0" tIns="0" bIns="0">
            <a:spAutoFit/>
          </a:bodyPr>
          <a:lstStyle/>
          <a:p>
            <a:pPr>
              <a:spcAft>
                <a:spcPts val="600"/>
              </a:spcAft>
              <a:defRPr sz="1300" b="1">
                <a:solidFill>
                  <a:srgbClr val="FFFFFF"/>
                </a:solidFill>
                <a:latin typeface="Aptos"/>
              </a:defRPr>
            </a:pPr>
            <a:r>
              <a:t>03</a:t>
            </a:r>
          </a:p>
        </p:txBody>
      </p:sp>
      <p:sp>
        <p:nvSpPr>
          <p:cNvPr id="22" name="TextBox 21"/>
          <p:cNvSpPr txBox="1"/>
          <p:nvPr/>
        </p:nvSpPr>
        <p:spPr>
          <a:xfrm>
            <a:off x="1408176" y="4480560"/>
            <a:ext cx="6126480" cy="256032"/>
          </a:xfrm>
          <a:prstGeom prst="rect">
            <a:avLst/>
          </a:prstGeom>
          <a:noFill/>
        </p:spPr>
        <p:txBody>
          <a:bodyPr wrap="square" lIns="0" rIns="0" tIns="0" bIns="0">
            <a:spAutoFit/>
          </a:bodyPr>
          <a:lstStyle/>
          <a:p>
            <a:pPr>
              <a:spcAft>
                <a:spcPts val="600"/>
              </a:spcAft>
              <a:defRPr sz="1100" b="1">
                <a:solidFill>
                  <a:srgbClr val="00874E"/>
                </a:solidFill>
                <a:latin typeface="Aptos"/>
              </a:defRPr>
            </a:pPr>
            <a:r>
              <a:t>IMPLEMENT / AGENT</a:t>
            </a:r>
          </a:p>
        </p:txBody>
      </p:sp>
      <p:sp>
        <p:nvSpPr>
          <p:cNvPr id="23" name="TextBox 22"/>
          <p:cNvSpPr txBox="1"/>
          <p:nvPr/>
        </p:nvSpPr>
        <p:spPr>
          <a:xfrm>
            <a:off x="1408176" y="4745736"/>
            <a:ext cx="6190488" cy="512064"/>
          </a:xfrm>
          <a:prstGeom prst="rect">
            <a:avLst/>
          </a:prstGeom>
          <a:noFill/>
        </p:spPr>
        <p:txBody>
          <a:bodyPr wrap="square" lIns="0" rIns="0" tIns="0" bIns="0">
            <a:spAutoFit/>
          </a:bodyPr>
          <a:lstStyle/>
          <a:p>
            <a:pPr>
              <a:spcAft>
                <a:spcPts val="600"/>
              </a:spcAft>
              <a:defRPr sz="1300" b="0">
                <a:solidFill>
                  <a:srgbClr val="153A2D"/>
                </a:solidFill>
                <a:latin typeface="Aptos"/>
              </a:defRPr>
            </a:pPr>
            <a:r>
              <a:t>"Implement the approved plan and run the tests.</a:t>
            </a:r>
          </a:p>
          <a:p>
            <a:pPr>
              <a:spcAft>
                <a:spcPts val="600"/>
              </a:spcAft>
              <a:defRPr sz="1300" b="0">
                <a:solidFill>
                  <a:srgbClr val="153A2D"/>
                </a:solidFill>
                <a:latin typeface="Aptos"/>
              </a:defRPr>
            </a:pPr>
            <a:r>
              <a:t>Report PR-AUC, calibration and subgroup results.</a:t>
            </a:r>
          </a:p>
          <a:p>
            <a:pPr>
              <a:spcAft>
                <a:spcPts val="600"/>
              </a:spcAft>
              <a:defRPr sz="1300" b="0">
                <a:solidFill>
                  <a:srgbClr val="153A2D"/>
                </a:solidFill>
                <a:latin typeface="Aptos"/>
              </a:defRPr>
            </a:pPr>
            <a:r>
              <a:t>Show the diff and any remaining limitations."</a:t>
            </a:r>
          </a:p>
        </p:txBody>
      </p:sp>
      <p:sp>
        <p:nvSpPr>
          <p:cNvPr id="24" name="Rounded Rectangle 23"/>
          <p:cNvSpPr/>
          <p:nvPr/>
        </p:nvSpPr>
        <p:spPr>
          <a:xfrm>
            <a:off x="8165592" y="2258568"/>
            <a:ext cx="3474720" cy="3474720"/>
          </a:xfrm>
          <a:prstGeom prst="roundRect">
            <a:avLst>
              <a:gd name="adj" fmla="val 12000"/>
            </a:avLst>
          </a:prstGeom>
          <a:solidFill>
            <a:srgbClr val="003D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0" y="2542032"/>
            <a:ext cx="2971800" cy="256032"/>
          </a:xfrm>
          <a:prstGeom prst="rect">
            <a:avLst/>
          </a:prstGeom>
          <a:noFill/>
        </p:spPr>
        <p:txBody>
          <a:bodyPr wrap="square" lIns="0" rIns="0" tIns="0" bIns="0">
            <a:spAutoFit/>
          </a:bodyPr>
          <a:lstStyle/>
          <a:p>
            <a:pPr>
              <a:spcAft>
                <a:spcPts val="600"/>
              </a:spcAft>
              <a:defRPr sz="1100" b="1">
                <a:solidFill>
                  <a:srgbClr val="C1E88A"/>
                </a:solidFill>
                <a:latin typeface="Aptos"/>
              </a:defRPr>
            </a:pPr>
            <a:r>
              <a:t>DONE MEANS</a:t>
            </a:r>
          </a:p>
        </p:txBody>
      </p:sp>
      <p:sp>
        <p:nvSpPr>
          <p:cNvPr id="26" name="TextBox 25"/>
          <p:cNvSpPr txBox="1"/>
          <p:nvPr/>
        </p:nvSpPr>
        <p:spPr>
          <a:xfrm>
            <a:off x="8412480" y="2999232"/>
            <a:ext cx="2962656" cy="1975104"/>
          </a:xfrm>
          <a:prstGeom prst="rect">
            <a:avLst/>
          </a:prstGeom>
          <a:noFill/>
        </p:spPr>
        <p:txBody>
          <a:bodyPr wrap="square" lIns="0" rIns="0" tIns="0" bIns="0">
            <a:spAutoFit/>
          </a:bodyPr>
          <a:lstStyle/>
          <a:p>
            <a:pPr>
              <a:spcAft>
                <a:spcPts val="600"/>
              </a:spcAft>
              <a:defRPr sz="1900" b="0">
                <a:solidFill>
                  <a:srgbClr val="FFFFFF"/>
                </a:solidFill>
                <a:latin typeface="Aptos"/>
              </a:defRPr>
            </a:pPr>
            <a:r>
              <a:t>A clean rerun works.</a:t>
            </a:r>
          </a:p>
          <a:p>
            <a:pPr>
              <a:spcAft>
                <a:spcPts val="600"/>
              </a:spcAft>
              <a:defRPr sz="1900" b="0">
                <a:solidFill>
                  <a:srgbClr val="FFFFFF"/>
                </a:solidFill>
                <a:latin typeface="Aptos"/>
              </a:defRPr>
            </a:pPr>
            <a:r>
              <a:t>Split and leakage tests pass.</a:t>
            </a:r>
          </a:p>
          <a:p>
            <a:pPr>
              <a:spcAft>
                <a:spcPts val="600"/>
              </a:spcAft>
              <a:defRPr sz="1900" b="0">
                <a:solidFill>
                  <a:srgbClr val="FFFFFF"/>
                </a:solidFill>
                <a:latin typeface="Aptos"/>
              </a:defRPr>
            </a:pPr>
            <a:r>
              <a:t>Metrics include limitations.</a:t>
            </a:r>
          </a:p>
          <a:p>
            <a:pPr>
              <a:spcAft>
                <a:spcPts val="600"/>
              </a:spcAft>
              <a:defRPr sz="1900" b="0">
                <a:solidFill>
                  <a:srgbClr val="FFFFFF"/>
                </a:solidFill>
                <a:latin typeface="Aptos"/>
              </a:defRPr>
            </a:pPr>
            <a:r>
              <a:t>A human reviews the result.</a:t>
            </a:r>
          </a:p>
        </p:txBody>
      </p:sp>
      <p:sp>
        <p:nvSpPr>
          <p:cNvPr id="27" name="TextBox 26"/>
          <p:cNvSpPr txBox="1"/>
          <p:nvPr/>
        </p:nvSpPr>
        <p:spPr>
          <a:xfrm>
            <a:off x="8412480" y="5148072"/>
            <a:ext cx="2926080" cy="384048"/>
          </a:xfrm>
          <a:prstGeom prst="rect">
            <a:avLst/>
          </a:prstGeom>
          <a:noFill/>
        </p:spPr>
        <p:txBody>
          <a:bodyPr wrap="square" lIns="0" rIns="0" tIns="0" bIns="0">
            <a:spAutoFit/>
          </a:bodyPr>
          <a:lstStyle/>
          <a:p>
            <a:pPr>
              <a:spcAft>
                <a:spcPts val="600"/>
              </a:spcAft>
              <a:defRPr sz="1700" b="1">
                <a:solidFill>
                  <a:srgbClr val="C1E88A"/>
                </a:solidFill>
                <a:latin typeface="Aptos"/>
              </a:defRPr>
            </a:pPr>
            <a:r>
              <a:t>Faster work. Same rigor.</a:t>
            </a:r>
          </a:p>
        </p:txBody>
      </p:sp>
      <p:sp>
        <p:nvSpPr>
          <p:cNvPr id="28" name="Rounded Rectangle 27"/>
          <p:cNvSpPr/>
          <p:nvPr/>
        </p:nvSpPr>
        <p:spPr>
          <a:xfrm>
            <a:off x="548640" y="5760720"/>
            <a:ext cx="11100816" cy="466344"/>
          </a:xfrm>
          <a:prstGeom prst="roundRect">
            <a:avLst>
              <a:gd name="adj" fmla="val 12000"/>
            </a:avLst>
          </a:prstGeom>
          <a:solidFill>
            <a:srgbClr val="EA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40664" y="5879592"/>
            <a:ext cx="10735056" cy="265176"/>
          </a:xfrm>
          <a:prstGeom prst="rect">
            <a:avLst/>
          </a:prstGeom>
          <a:noFill/>
        </p:spPr>
        <p:txBody>
          <a:bodyPr wrap="square" lIns="0" rIns="0" tIns="0" bIns="0">
            <a:spAutoFit/>
          </a:bodyPr>
          <a:lstStyle/>
          <a:p>
            <a:pPr>
              <a:spcAft>
                <a:spcPts val="600"/>
              </a:spcAft>
              <a:defRPr sz="1300" b="1">
                <a:solidFill>
                  <a:srgbClr val="153A2D"/>
                </a:solidFill>
                <a:latin typeface="Aptos"/>
              </a:defRPr>
            </a:pPr>
            <a:r>
              <a:t>Banking guardrail: synthetic or approved de-identified data only; no client PII or secrets in prompts.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GitHub Copilot for Data Scientists in VS Code</dc:title>
  <dc:subject>Copilot modes, HVE RPI, and right-sized model selection</dc:subject>
  <dc:creator>GitHub Copilot</dc:creator>
  <cp:keywords>data science, VS Code, Copilot, HVE, RPI, Desjardins-inspired</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